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35db4d543f46fc" /><Relationship Type="http://schemas.openxmlformats.org/officeDocument/2006/relationships/extended-properties" Target="/docProps/app.xml" Id="R41f291606e844ee9" /><Relationship Type="http://schemas.openxmlformats.org/officeDocument/2006/relationships/officeDocument" Target="/ppt/presentation.xml" Id="R98fb3209b5e742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e7c0c9a294da8"/>
  </p:sldMasterIdLst>
  <p:notesMasterIdLst>
    <p:notesMasterId xmlns:r="http://schemas.openxmlformats.org/officeDocument/2006/relationships" r:id="R7a0848be33434d9c"/>
  </p:notesMasterIdLst>
  <p:sldIdLst>
    <p:sldId xmlns:r="http://schemas.openxmlformats.org/officeDocument/2006/relationships" id="256" r:id="Rb18673af07c64230"/>
    <p:sldId xmlns:r="http://schemas.openxmlformats.org/officeDocument/2006/relationships" id="257" r:id="R5b29bf79d61045af"/>
    <p:sldId xmlns:r="http://schemas.openxmlformats.org/officeDocument/2006/relationships" id="258" r:id="R9b44cfaf1beb4b8a"/>
    <p:sldId xmlns:r="http://schemas.openxmlformats.org/officeDocument/2006/relationships" id="259" r:id="R005977420eb149a7"/>
    <p:sldId xmlns:r="http://schemas.openxmlformats.org/officeDocument/2006/relationships" id="260" r:id="R6527cc9d882a4152"/>
    <p:sldId xmlns:r="http://schemas.openxmlformats.org/officeDocument/2006/relationships" id="261" r:id="R9b7859a468e54fba"/>
    <p:sldId xmlns:r="http://schemas.openxmlformats.org/officeDocument/2006/relationships" id="262" r:id="R33cb3bae54564f86"/>
    <p:sldId xmlns:r="http://schemas.openxmlformats.org/officeDocument/2006/relationships" id="263" r:id="R93baf243ca024202"/>
    <p:sldId xmlns:r="http://schemas.openxmlformats.org/officeDocument/2006/relationships" id="264" r:id="R6e1900c27abf4fd2"/>
    <p:sldId xmlns:r="http://schemas.openxmlformats.org/officeDocument/2006/relationships" id="265" r:id="R8bc7c8c2fc064946"/>
    <p:sldId xmlns:r="http://schemas.openxmlformats.org/officeDocument/2006/relationships" id="266" r:id="Rb8feb57470224d09"/>
    <p:sldId xmlns:r="http://schemas.openxmlformats.org/officeDocument/2006/relationships" id="267" r:id="R0d6cd50823974543"/>
    <p:sldId xmlns:r="http://schemas.openxmlformats.org/officeDocument/2006/relationships" id="268" r:id="R446a166740604710"/>
    <p:sldId xmlns:r="http://schemas.openxmlformats.org/officeDocument/2006/relationships" id="269" r:id="R384331d98ff245c7"/>
    <p:sldId xmlns:r="http://schemas.openxmlformats.org/officeDocument/2006/relationships" id="270" r:id="Rf4b01f358606424a"/>
    <p:sldId xmlns:r="http://schemas.openxmlformats.org/officeDocument/2006/relationships" id="271" r:id="Rd782db9f051f418a"/>
    <p:sldId xmlns:r="http://schemas.openxmlformats.org/officeDocument/2006/relationships" id="272" r:id="R085c201bf6a44d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508ac812e54093" /><Relationship Type="http://schemas.openxmlformats.org/officeDocument/2006/relationships/slideMaster" Target="/ppt/slideMasters/slideMaster1.xml" Id="R530e7c0c9a294da8" /><Relationship Type="http://schemas.openxmlformats.org/officeDocument/2006/relationships/notesMaster" Target="/ppt/notesMasters/notesMaster1.xml" Id="R7a0848be33434d9c" /><Relationship Type="http://schemas.openxmlformats.org/officeDocument/2006/relationships/presProps" Target="/ppt/presProps.xml" Id="R34cbe03fa5e643a6" /><Relationship Type="http://schemas.openxmlformats.org/officeDocument/2006/relationships/tableStyles" Target="/ppt/tableStyles.xml" Id="R01efcef11e9c47c1" /><Relationship Type="http://schemas.openxmlformats.org/officeDocument/2006/relationships/slide" Target="/ppt/slides/slide1.xml" Id="Rb18673af07c64230" /><Relationship Type="http://schemas.openxmlformats.org/officeDocument/2006/relationships/slide" Target="/ppt/slides/slide2.xml" Id="R5b29bf79d61045af" /><Relationship Type="http://schemas.openxmlformats.org/officeDocument/2006/relationships/slide" Target="/ppt/slides/slide3.xml" Id="R9b44cfaf1beb4b8a" /><Relationship Type="http://schemas.openxmlformats.org/officeDocument/2006/relationships/slide" Target="/ppt/slides/slide4.xml" Id="R005977420eb149a7" /><Relationship Type="http://schemas.openxmlformats.org/officeDocument/2006/relationships/slide" Target="/ppt/slides/slide5.xml" Id="R6527cc9d882a4152" /><Relationship Type="http://schemas.openxmlformats.org/officeDocument/2006/relationships/slide" Target="/ppt/slides/slide6.xml" Id="R9b7859a468e54fba" /><Relationship Type="http://schemas.openxmlformats.org/officeDocument/2006/relationships/slide" Target="/ppt/slides/slide7.xml" Id="R33cb3bae54564f86" /><Relationship Type="http://schemas.openxmlformats.org/officeDocument/2006/relationships/slide" Target="/ppt/slides/slide8.xml" Id="R93baf243ca024202" /><Relationship Type="http://schemas.openxmlformats.org/officeDocument/2006/relationships/slide" Target="/ppt/slides/slide9.xml" Id="R6e1900c27abf4fd2" /><Relationship Type="http://schemas.openxmlformats.org/officeDocument/2006/relationships/slide" Target="/ppt/slides/slide10.xml" Id="R8bc7c8c2fc064946" /><Relationship Type="http://schemas.openxmlformats.org/officeDocument/2006/relationships/slide" Target="/ppt/slides/slide11.xml" Id="Rb8feb57470224d09" /><Relationship Type="http://schemas.openxmlformats.org/officeDocument/2006/relationships/slide" Target="/ppt/slides/slide12.xml" Id="R0d6cd50823974543" /><Relationship Type="http://schemas.openxmlformats.org/officeDocument/2006/relationships/slide" Target="/ppt/slides/slide13.xml" Id="R446a166740604710" /><Relationship Type="http://schemas.openxmlformats.org/officeDocument/2006/relationships/slide" Target="/ppt/slides/slide14.xml" Id="R384331d98ff245c7" /><Relationship Type="http://schemas.openxmlformats.org/officeDocument/2006/relationships/slide" Target="/ppt/slides/slide15.xml" Id="Rf4b01f358606424a" /><Relationship Type="http://schemas.openxmlformats.org/officeDocument/2006/relationships/slide" Target="/ppt/slides/slide16.xml" Id="Rd782db9f051f418a" /><Relationship Type="http://schemas.openxmlformats.org/officeDocument/2006/relationships/slide" Target="/ppt/slides/slide17.xml" Id="R085c201bf6a4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d0560036744e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ae87410c064714" /><Relationship Type="http://schemas.openxmlformats.org/officeDocument/2006/relationships/notesMaster" Target="/ppt/notesMasters/notesMaster1.xml" Id="Rc0029202ab7e40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3b18ac20564beb" /><Relationship Type="http://schemas.openxmlformats.org/officeDocument/2006/relationships/notesMaster" Target="/ppt/notesMasters/notesMaster1.xml" Id="R0ed37af1bba74e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632fbc8c4145ba" /><Relationship Type="http://schemas.openxmlformats.org/officeDocument/2006/relationships/notesMaster" Target="/ppt/notesMasters/notesMaster1.xml" Id="R6880215500d14a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c06278f85c47e1" /><Relationship Type="http://schemas.openxmlformats.org/officeDocument/2006/relationships/notesMaster" Target="/ppt/notesMasters/notesMaster1.xml" Id="Rb9bd0c82b63349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1b03945c6144d9" /><Relationship Type="http://schemas.openxmlformats.org/officeDocument/2006/relationships/notesMaster" Target="/ppt/notesMasters/notesMaster1.xml" Id="R36cbbad6f93a45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1a6660e7f84290" /><Relationship Type="http://schemas.openxmlformats.org/officeDocument/2006/relationships/notesMaster" Target="/ppt/notesMasters/notesMaster1.xml" Id="R8048b3bfaa3843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92b3dd55bd470a" /><Relationship Type="http://schemas.openxmlformats.org/officeDocument/2006/relationships/notesMaster" Target="/ppt/notesMasters/notesMaster1.xml" Id="R2fee379ce5054e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bf8934f7b74f46" /><Relationship Type="http://schemas.openxmlformats.org/officeDocument/2006/relationships/notesMaster" Target="/ppt/notesMasters/notesMaster1.xml" Id="Rbb7a3822e34147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ff1527ed5a4d38" /><Relationship Type="http://schemas.openxmlformats.org/officeDocument/2006/relationships/notesMaster" Target="/ppt/notesMasters/notesMaster1.xml" Id="R6039fa7900f84c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3dcb3570ff4380" /><Relationship Type="http://schemas.openxmlformats.org/officeDocument/2006/relationships/notesMaster" Target="/ppt/notesMasters/notesMaster1.xml" Id="R029ad7c4919b4e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e76fcc40a948b8" /><Relationship Type="http://schemas.openxmlformats.org/officeDocument/2006/relationships/notesMaster" Target="/ppt/notesMasters/notesMaster1.xml" Id="R4ab8343c8bdd4b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c54821a49847f7" /><Relationship Type="http://schemas.openxmlformats.org/officeDocument/2006/relationships/notesMaster" Target="/ppt/notesMasters/notesMaster1.xml" Id="Rbeaf08d2496a49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2f460c88ac4a55" /><Relationship Type="http://schemas.openxmlformats.org/officeDocument/2006/relationships/notesMaster" Target="/ppt/notesMasters/notesMaster1.xml" Id="R0e977ced5eb944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217f41a2884cd8" /><Relationship Type="http://schemas.openxmlformats.org/officeDocument/2006/relationships/notesMaster" Target="/ppt/notesMasters/notesMaster1.xml" Id="R97f99495f9b345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5b0e259b2b4f43" /><Relationship Type="http://schemas.openxmlformats.org/officeDocument/2006/relationships/notesMaster" Target="/ppt/notesMasters/notesMaster1.xml" Id="R9a9e18d98f5b4f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2986e74bbc47c3" /><Relationship Type="http://schemas.openxmlformats.org/officeDocument/2006/relationships/notesMaster" Target="/ppt/notesMasters/notesMaster1.xml" Id="R1fdc6e91459047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2d72b26fc1420f" /><Relationship Type="http://schemas.openxmlformats.org/officeDocument/2006/relationships/notesMaster" Target="/ppt/notesMasters/notesMaster1.xml" Id="Rf5af5ef4ed1f46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  <a:p xmlns:a="http://schemas.openxmlformats.org/drawingml/2006/main">
            <a:r>
              <a:t>Sum across primary completed suites, projects and run indices. Repeated scenarios across runs are counted. Excludes pilot, repair histories and incomplete suites. Not number of unique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  <a:p xmlns:a="http://schemas.openxmlformats.org/drawingml/2006/main">
            <a:r>
              <a:t>Distinct project/bug pairs. Zero denominator means no evidence, not a zero detection rate. Repeated seeds count the same bug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  <a:p xmlns:a="http://schemas.openxmlformats.org/drawingml/2006/main">
            <a:r>
              <a:t>Policy: docs/ai-workflow.md; source-processing-v1 through v29 ledgers. Added during AI integration, not preregistered. Retain raw responses, original failures, source hashes, complete-prefix salvage and exact compatibility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  <a:p xmlns:a="http://schemas.openxmlformats.org/drawingml/2006/main">
            <a:r>
              <a:t>14 distinct bugs. Four-method matched subset is conditional on all methods completing; not an overall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  <a:p xmlns:a="http://schemas.openxmlformats.org/drawingml/2006/main">
            <a:r>
              <a:t>Demo walkthrough: presentation/demo-guide.md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output/submission/summary.json; experiments/configs/round2.json; docs/study-protocol.md</a:t>
            </a:r>
          </a:p>
          <a:p xmlns:a="http://schemas.openxmlformats.org/drawingml/2006/main">
            <a:r>
              <a:t>Concrete evidence and discussion: docs/lessons-learned.md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docs/reference/SQA_Round1_กลุ่ม14.pdf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60b889d6f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944ace011e4e2e" /><Relationship Type="http://schemas.openxmlformats.org/officeDocument/2006/relationships/slideLayout" Target="/ppt/slideLayouts/slideLayout1.xml" Id="Rad0dc230ac7245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0dc230ac7245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4deee3a2749c4" /><Relationship Type="http://schemas.openxmlformats.org/officeDocument/2006/relationships/notesSlide" Target="/ppt/notesSlides/notesSlide1.xml" Id="R9823817fcbdc40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31da6028941b5" /><Relationship Type="http://schemas.openxmlformats.org/officeDocument/2006/relationships/notesSlide" Target="/ppt/notesSlides/notesSlide2.xml" Id="R41c7066a469e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a4351ea2f4ba1" /><Relationship Type="http://schemas.openxmlformats.org/officeDocument/2006/relationships/notesSlide" Target="/ppt/notesSlides/notesSlide3.xml" Id="R83307ff94f5044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ea7b2f8a64710" /><Relationship Type="http://schemas.openxmlformats.org/officeDocument/2006/relationships/notesSlide" Target="/ppt/notesSlides/notesSlide4.xml" Id="R0750952fdc474e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2f631823144db" /><Relationship Type="http://schemas.openxmlformats.org/officeDocument/2006/relationships/notesSlide" Target="/ppt/notesSlides/notesSlide5.xml" Id="R12ab5e37e59c45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48759ee6b49f4" /><Relationship Type="http://schemas.openxmlformats.org/officeDocument/2006/relationships/notesSlide" Target="/ppt/notesSlides/notesSlide6.xml" Id="R60f5ea878b604e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8f997248145b4" /><Relationship Type="http://schemas.openxmlformats.org/officeDocument/2006/relationships/chart" Target="/ppt/slides/charts/chart1.xml" Id="Re62e76020381407e" /><Relationship Type="http://schemas.openxmlformats.org/officeDocument/2006/relationships/notesSlide" Target="/ppt/notesSlides/notesSlide7.xml" Id="Rff1ead28a40646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54986ef714dad" /><Relationship Type="http://schemas.openxmlformats.org/officeDocument/2006/relationships/notesSlide" Target="/ppt/notesSlides/notesSlide8.xml" Id="R3e185d25b18748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fb9ccf4a14d8a" /><Relationship Type="http://schemas.openxmlformats.org/officeDocument/2006/relationships/notesSlide" Target="/ppt/notesSlides/notesSlide9.xml" Id="R5f06bc6a300344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a291c6dca47a4" /><Relationship Type="http://schemas.openxmlformats.org/officeDocument/2006/relationships/notesSlide" Target="/ppt/notesSlides/notesSlide10.xml" Id="Rc092ee61404547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e15ab23824d90" /><Relationship Type="http://schemas.openxmlformats.org/officeDocument/2006/relationships/notesSlide" Target="/ppt/notesSlides/notesSlide11.xml" Id="Rce07e90cb1b248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44f8ae060437e" /><Relationship Type="http://schemas.openxmlformats.org/officeDocument/2006/relationships/notesSlide" Target="/ppt/notesSlides/notesSlide12.xml" Id="R1ccd9bc1131e4a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94c3b4d154ff2" /><Relationship Type="http://schemas.openxmlformats.org/officeDocument/2006/relationships/notesSlide" Target="/ppt/notesSlides/notesSlide13.xml" Id="R37a20a932f6e47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1a268e2f34b0e" /><Relationship Type="http://schemas.openxmlformats.org/officeDocument/2006/relationships/notesSlide" Target="/ppt/notesSlides/notesSlide14.xml" Id="Rc8fa84460bfd40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e25a3b41849f4" /><Relationship Type="http://schemas.openxmlformats.org/officeDocument/2006/relationships/notesSlide" Target="/ppt/notesSlides/notesSlide15.xml" Id="R17ad02e0bee245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52de30be44056" /><Relationship Type="http://schemas.openxmlformats.org/officeDocument/2006/relationships/notesSlide" Target="/ppt/notesSlides/notesSlide16.xml" Id="R73bdafabea5541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ee8a0355e4175" /><Relationship Type="http://schemas.openxmlformats.org/officeDocument/2006/relationships/notesSlide" Target="/ppt/notesSlides/notesSlide17.xml" Id="Re6015668b645456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Line coverage (%)</c:v>
          </c:tx>
          <c:spPr>
            <a:solidFill xmlns:a="http://schemas.openxmlformats.org/drawingml/2006/main">
              <a:srgbClr val="245B82"/>
            </a:solidFill>
          </c:spPr>
          <c:cat>
            <c:strRef>
              <c:f>'Chart Data'!$A$2:$A$5</c:f>
              <c:strCache>
                <c:ptCount val="4"/>
                <c:pt idx="0">
                  <c:v>cmaes</c:v>
                </c:pt>
                <c:pt idx="1">
                  <c:v>fscs-art</c:v>
                </c:pt>
                <c:pt idx="2">
                  <c:v>claude</c:v>
                </c:pt>
                <c:pt idx="3">
                  <c:v>intellisphere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26.63</c:v>
                </c:pt>
                <c:pt idx="1">
                  <c:v>26.41</c:v>
                </c:pt>
                <c:pt idx="2">
                  <c:v>85.32</c:v>
                </c:pt>
                <c:pt idx="3">
                  <c:v>58.65</c:v>
                </c:pt>
              </c:numCache>
            </c:numRef>
          </c:val>
        </c:ser>
        <c:ser>
          <c:idx val="1"/>
          <c:order val="1"/>
          <c:tx>
            <c:v>Condition coverage (%)</c:v>
          </c:tx>
          <c:spPr>
            <a:solidFill xmlns:a="http://schemas.openxmlformats.org/drawingml/2006/main">
              <a:srgbClr val="709A9D"/>
            </a:solidFill>
          </c:spPr>
          <c:cat>
            <c:strRef>
              <c:f>'Chart Data'!$C$2:$C$5</c:f>
              <c:strCache>
                <c:ptCount val="4"/>
                <c:pt idx="0">
                  <c:v>cmaes</c:v>
                </c:pt>
                <c:pt idx="1">
                  <c:v>fscs-art</c:v>
                </c:pt>
                <c:pt idx="2">
                  <c:v>claude</c:v>
                </c:pt>
                <c:pt idx="3">
                  <c:v>intellisphere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15.09</c:v>
                </c:pt>
                <c:pt idx="1">
                  <c:v>15.63</c:v>
                </c:pt>
                <c:pt idx="2">
                  <c:v>77.89</c:v>
                </c:pt>
                <c:pt idx="3">
                  <c:v>50.61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Tahoma"/>
              <a:ea typeface="Tahoma"/>
              <a:cs typeface="Tahoma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00192-8D1D-44FF-A2D1-4ECED9CC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การสร้างชุดทดสอบ Java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93D08-1346-4A83-A049-7FC90BD8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และ FSCS-ART เปรียบเทียบกับ Claude และ IntelliSphere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215C8-53D7-4672-99E6-05729D55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CP353201 Software Quality Assurance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0CEF2-29FA-4F28-89CE-0CFDF196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หลักฐาน ณ 2026-10-01T07:12:39 UTC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4EFF6-EED8-47CC-A928-B335D5C9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สถานะงานยังไม่ครบจนกว่าผลทดลองและหลักฐาน AI จะครบ</a:t>
            </a:r>
          </a:p>
        </p:txBody>
      </p:sp>
    </p:spTree>
    <p:extLst>
      <p:ext uri="{BB962C8B-B14F-4D97-AF65-F5344CB8AC3E}">
        <p14:creationId xmlns:p14="http://schemas.microsoft.com/office/powerpoint/2010/main" val="1510426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B0DA0-FA2D-4CA1-BA58-FD4BCA7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A0628-45C9-4F08-95CC-6867C0C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17 โปรเจกต์จาก Defects4J 3.0.1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E6825-F57A-439E-864B-58E16C3C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เลือก active bug หมายเลขน้อยที่สุดของแต่ละโปรเจกต์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C40B5-C58B-4FAD-94E7-7D92687E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 รอบ; อัลกอริทึม 30 vectors / AI ไม่เกิน 30 methods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F8377-8EF1-4F52-A1B3-66AC1E67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ขอบเขตปัจจุบันเป็นหนึ่ง bug ต่อโปรเจกต์ ต้องระบุข้อจำกัดนี้ในรายงาน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999449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28142-824E-40B6-B18C-C5C37139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อัลกอริทึมที่ใช้สร้างอินพุต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7D85C-1584-41ED-B40D-266C1C94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 เลือกเวกเตอร์ที่ห่างจากอินพุตก่อนหน้า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367C5-07C0-4D48-BD2F-97AB03FD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ปรับการกระจายจากความหลากหลายของ fixed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7AA36-0120-44B9-958A-17A36AF6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Probe ใช้ reflection และสร้าง fixtures แบบจำกัด ไม่ครอบคลุม object graph ทุกแบบ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D6F4D-4A80-4DF5-8EDC-307D257A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วัด coverage หลังสร้างชุดทดสอบ โดยไม่ใช้ buggy outcome เลือก assertion</a:t>
            </a:r>
          </a:p>
        </p:txBody>
      </p:sp>
    </p:spTree>
    <p:extLst>
      <p:ext uri="{BB962C8B-B14F-4D97-AF65-F5344CB8AC3E}">
        <p14:creationId xmlns:p14="http://schemas.microsoft.com/office/powerpoint/2010/main" val="1311638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E7419-BB84-4518-AD54-5EB364D6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จำนวน test cases ที่ประเมินสำเร็จ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BE95F-9EEF-4A2D-AEF3-0CE64416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cmaes: 1,529 test methods / 51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F31A9-31E9-4350-9724-716C5587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fscs-art: 1,529 test methods / 51 runs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DC888-161F-4973-89F6-9FD4228E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claude: 581 test methods / 20 runs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E4C57-5CC4-4C07-9FC0-38DD0C35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intellisphere: 1,072 test methods / 49 runs</a:t>
            </a:r>
          </a:p>
        </p:txBody>
      </p:sp>
    </p:spTree>
    <p:extLst>
      <p:ext uri="{BB962C8B-B14F-4D97-AF65-F5344CB8AC3E}">
        <p14:creationId xmlns:p14="http://schemas.microsoft.com/office/powerpoint/2010/main" val="1480588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3A632-1E5F-4DA5-962F-7B76E93F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การตรวจสอบชุดทดสอบ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69254-1AA7-4807-872A-7D0C6D9A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1  ตรวจ fixed behavior ซ้ำก่อนสร้าง JUnit assertion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51F9A-774A-430A-9226-E2A3ED52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2  รัน JUnit บน fixed สองครั้ง แล้วรันบน buggy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62B57-FEA9-4105-9861-7DD8454D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  แยก harness error และ timeout ออกจาก fault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1602F-81A1-42F7-9515-C52CA100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4  เก็บ coverage, logs และประวัติการซ่อมชุดทดสอบจาก fixed</a:t>
            </a:r>
          </a:p>
        </p:txBody>
      </p:sp>
    </p:spTree>
    <p:extLst>
      <p:ext uri="{BB962C8B-B14F-4D97-AF65-F5344CB8AC3E}">
        <p14:creationId xmlns:p14="http://schemas.microsoft.com/office/powerpoint/2010/main" val="242622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1AC78-4D71-4258-9379-0FEA4877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ผลรันที่มีหลักฐาน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A6817-E8A3-426A-AC06-ACD65DC4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พบ 173 records และเสร็จครบ 171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F5E30-C2C2-4B06-83E5-B5B6317A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ยังไม่สมบูรณ์ 2 runs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0C460-BD0F-4E3D-A3A4-C133BE0D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manifest ระบุ 204 runs และยังไม่มี record 31 runs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B77D7-0A8C-4A6A-A1DF-E84C2147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missing หรือ failed ไม่ถูกตีความเป็น coverage เท่ากับศูนย์</a:t>
            </a:r>
          </a:p>
        </p:txBody>
      </p:sp>
    </p:spTree>
    <p:extLst>
      <p:ext uri="{BB962C8B-B14F-4D97-AF65-F5344CB8AC3E}">
        <p14:creationId xmlns:p14="http://schemas.microsoft.com/office/powerpoint/2010/main" val="1603396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910C3-E340-45A9-9D8A-51861954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Coverage ของชุดทดสอบที่ประเมินครบ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2e76020381407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58713-B2D4-438F-BF8B-A0E9E60D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ค่าเฉลี่ยจาก sample ที่สำเร็จต่างกัน จึงไม่ใช้กราฟนี้จัดอันดับ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EB10D-AFF4-4395-951B-B5513922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ค่าเฉลี่ยต่อ run เฉพาะคลาสที่แก้ไข; cmaes: n=51, fscs-art: n=51, claude: n=20, intellisphere: n=49</a:t>
            </a:r>
          </a:p>
        </p:txBody>
      </p:sp>
    </p:spTree>
    <p:extLst>
      <p:ext uri="{BB962C8B-B14F-4D97-AF65-F5344CB8AC3E}">
        <p14:creationId xmlns:p14="http://schemas.microsoft.com/office/powerpoint/2010/main" val="658414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76EAA-B400-4EDE-9731-ED9429F2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การตรวจพบ bug และตัวหาร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3564B-04A2-428B-9BD9-D974AAC6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cmaes: 5/17 bugs ที่ประเมินได้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84ECC-4405-4F2E-A45E-E0CBCB33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fscs-art: 4/17 bugs ที่ประเมินได้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46FB5-743F-4B38-94AC-F69FA04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claude: 8/14 bugs ที่ประเมินได้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190C4-D338-43D6-AC32-BEF053C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intellisphere: 6/17 bugs ที่ประเมินได้</a:t>
            </a:r>
          </a:p>
        </p:txBody>
      </p:sp>
    </p:spTree>
    <p:extLst>
      <p:ext uri="{BB962C8B-B14F-4D97-AF65-F5344CB8AC3E}">
        <p14:creationId xmlns:p14="http://schemas.microsoft.com/office/powerpoint/2010/main" val="219688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5DF06-21F3-4B22-8160-60709C07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เปรียบเทียบบนคู่ทดลองเดียวกัน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0B0A9-E29E-4E27-A018-5C7E9CC7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จับคู่ได้ 51 คู่ จาก 17 project/bug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3738A-EB3B-4723-9A13-16F4072A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Line: CMA-ES ลบ FSCS-ART = 0.22 percentage points (n=51)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A6C80-FEFF-44D5-9211-C9B1E0BF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Condition: CMA-ES ลบ FSCS-ART = -0.54 percentage points (n=51)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03493-C634-4208-96C9-B0B4CBFC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เป็นสถิติเชิงพรรณนา ไม่อ้างนัยสำคัญจาก seeds ของ bug เดียวกัน</a:t>
            </a:r>
          </a:p>
        </p:txBody>
      </p:sp>
    </p:spTree>
    <p:extLst>
      <p:ext uri="{BB962C8B-B14F-4D97-AF65-F5344CB8AC3E}">
        <p14:creationId xmlns:p14="http://schemas.microsoft.com/office/powerpoint/2010/main" val="2039279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46E76-DD85-4E58-984F-21D3510D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เวลาและต้นทุนการทดลอง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E2476-382E-450C-A040-9572505D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cmaes: สร้าง 16.2 วินาที / ประเมิน 78.1 วินาที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CFACA-F63D-4B6F-970E-069F414B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fscs-art: สร้าง 15.5 วินาที / ประเมิน 82.4 วินาที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0DAAA-04DE-4FBB-B650-8AA03F09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Workflow CMA-ES ลบ FSCS-ART = -3.45 วินาที (n=51)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16FAB-05CF-4704-8E0E-26C0354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เฉลี่ยเฉพาะ runs ที่เสร็จ; AI tokens และ prompt iterations รายงานแยก</a:t>
            </a:r>
          </a:p>
        </p:txBody>
      </p:sp>
    </p:spTree>
    <p:extLst>
      <p:ext uri="{BB962C8B-B14F-4D97-AF65-F5344CB8AC3E}">
        <p14:creationId xmlns:p14="http://schemas.microsoft.com/office/powerpoint/2010/main" val="12444027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3F867-C78A-4FA9-B8DE-D52BC5C7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หลักฐานจากเครื่องมือ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EBBD0-F517-49A0-AFDD-FC228F3B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แนวทางคือใช้ fixed source และ prompt เดียวกันกับทั้งสองบริการ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32444-977F-4DE5-9820-F85646C3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Claude: มี 20 runs ที่ประเมินครบ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80359-DE78-4724-A3F6-3C6774CE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IntelliSphere: มี 49 runs ที่ประเมินครบ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8A3FF-F1B5-4DD2-9F59-1DAD38B5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response จริงและรุ่นโมเดล; Auto Router อาจเลือกโมเดลต่างกัน</a:t>
            </a:r>
          </a:p>
        </p:txBody>
      </p:sp>
    </p:spTree>
    <p:extLst>
      <p:ext uri="{BB962C8B-B14F-4D97-AF65-F5344CB8AC3E}">
        <p14:creationId xmlns:p14="http://schemas.microsoft.com/office/powerpoint/2010/main" val="977565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15F79-F894-4774-AEA9-DADA377D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การประมวลผล tests ของ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3CBC8-B670-4EFB-9C4D-BF323EE5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เก็บคำตอบดิบ แล้วคง 30 methods แรกตามลำดับ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87402-2D54-4BDB-AC83-8DD28ECF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แก้ filename/UI suffix/API compatibility และตัด fixed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C2A74-4392-4E72-92A1-C87DACD5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เก็บทุกการแก้ไข; ไม่ส่ง evaluation logs กลับให้โมเดล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F6E44-28FC-45B9-8137-BA344C2A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AI-assisted พร้อม local processing; เวลา UI ไม่ใช่ model compute time</a:t>
            </a:r>
          </a:p>
        </p:txBody>
      </p:sp>
    </p:spTree>
    <p:extLst>
      <p:ext uri="{BB962C8B-B14F-4D97-AF65-F5344CB8AC3E}">
        <p14:creationId xmlns:p14="http://schemas.microsoft.com/office/powerpoint/2010/main" val="510957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F5163-D8C7-48E2-9375-B3C285CF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สี่วิธีบน 20 กลุ่มที่มีผลครบ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A6A1E-1D20-4713-91F5-D8AB0DEE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cmaes: Line 31.23% / Condition 15.39% (n=20)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AAB4A-BD15-4137-AD84-B71A37F5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fscs-art: Line 31.44% / Condition 16.98% (n=20)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1E1CA-1806-48F2-8C13-C45EBFE8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claude: Line 85.32% / Condition 77.89% (n=20)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51A9F-162F-40DE-BED3-7525C00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intellisphere: Line 61.05% / Condition 53.41% (n=20)</a:t>
            </a:r>
          </a:p>
        </p:txBody>
      </p:sp>
    </p:spTree>
    <p:extLst>
      <p:ext uri="{BB962C8B-B14F-4D97-AF65-F5344CB8AC3E}">
        <p14:creationId xmlns:p14="http://schemas.microsoft.com/office/powerpoint/2010/main" val="20113013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E57EF-EBB8-4C2C-8F63-1E853771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ข้อจำกัดและผลที่ยังสรุปไม่ได้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FDD88-6624-4D40-A447-5366D686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ชุดข้อมูลนี้ไม่ใช่ทุก active bug ใน Defects4J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C4817-7D9D-44EC-B0E5-17302752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API ที่ต้องใช้ object fixtures อาจต้องเพิ่ม adapter เฉพาะ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783A6-996F-4F37-A157-0A7EBC1E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 pilot เดิม Lang-1 แยกจากการทดลอง prospective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D7E22-4BEE-4CE7-B565-45199201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ยังจัดอันดับทั่วไปไม่ได้จาก sample ที่ผ่านและผลบางส่วน</a:t>
            </a:r>
          </a:p>
        </p:txBody>
      </p:sp>
    </p:spTree>
    <p:extLst>
      <p:ext uri="{BB962C8B-B14F-4D97-AF65-F5344CB8AC3E}">
        <p14:creationId xmlns:p14="http://schemas.microsoft.com/office/powerpoint/2010/main" val="20907146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86794-074C-4860-A00E-C2809212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การสาธิตและการทำซ้ำ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6510C-C582-476A-9985-6151CD8A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config และ manifest แล้วตรวจ source tests ที่สร้าง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885E0-6B27-4FB9-94D0-36C95D88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เทียบ fixed/buggy logs กับ evaluation/record.json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536A2-15FF-4C8D-AE73-47C98D46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coverage/summary.csv และแสดงสูตรที่ใช้คำนวณ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BAEEA-9FDB-4291-8AF5-3C02EAC0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สร้างรายงานใหม่ด้วย scripts/reporting/aggregate.py</a:t>
            </a:r>
          </a:p>
        </p:txBody>
      </p:sp>
    </p:spTree>
    <p:extLst>
      <p:ext uri="{BB962C8B-B14F-4D97-AF65-F5344CB8AC3E}">
        <p14:creationId xmlns:p14="http://schemas.microsoft.com/office/powerpoint/2010/main" val="884797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74D94-A401-4851-AD00-AB4AD3D3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อุปสรรคและบทเรียนที่แก้แล้ว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D4552-5F53-419E-B6C2-0A0C357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ใช้ API signatures ที่มีทั้ง fixed และ buggy เพื่อกัน reflection error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8C518-C638-4182-90BD-C8AC3F15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oracle ที่ยาวใช้ SHA-256 และ byte length เพื่อให้ Java คอมไพล์ได้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B57A6-4E1A-408F-B9AF-D9F4A814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เก็บผลล้มเหลวและเวอร์ชันเดิมไว้ตรวจย้อนหลัง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6471E-6CB5-4AE6-A750-64D8AAE4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การออกแบบ fixtures และ oracle มีผลต่อ coverage และ fault detection</a:t>
            </a:r>
          </a:p>
        </p:txBody>
      </p:sp>
    </p:spTree>
    <p:extLst>
      <p:ext uri="{BB962C8B-B14F-4D97-AF65-F5344CB8AC3E}">
        <p14:creationId xmlns:p14="http://schemas.microsoft.com/office/powerpoint/2010/main" val="13053554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93ADB-4AED-4739-AB16-9E0E44D6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ผู้จัดทำ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7B3D2-81A5-48B6-AD78-F9D27DF3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นายธนินธร อันทรบุตร  673380043-6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40EF9-6C4C-495D-9E1C-0AF06D5A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นายศุภกร กรมรินทร์  673380061-4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757A1-E470-4C41-AD6F-E01E5A64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นายณัชพล เพ็งพล  673380267-4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1BF5E-B2FC-40DA-906D-36915B8A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นายณัฐกรณ์ อินธิสาร  673380268-2</a:t>
            </a:r>
          </a:p>
        </p:txBody>
      </p:sp>
    </p:spTree>
    <p:extLst>
      <p:ext uri="{BB962C8B-B14F-4D97-AF65-F5344CB8AC3E}">
        <p14:creationId xmlns:p14="http://schemas.microsoft.com/office/powerpoint/2010/main" val="560882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2026-10-01T07:13:28.2830000Z</dcterms:created>
  <dcterms:modified xsi:type="dcterms:W3CDTF">2026-10-01T07:13:28.2830000Z</dcterms:modified>
</coreProperties>
</file>