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6e4172bb3ea4b91" /><Relationship Type="http://schemas.openxmlformats.org/officeDocument/2006/relationships/extended-properties" Target="/docProps/app.xml" Id="R8c14f569a5d24976" /><Relationship Type="http://schemas.openxmlformats.org/officeDocument/2006/relationships/officeDocument" Target="/ppt/presentation.xml" Id="Rb9aefde23b0b466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d3cdf605f994036"/>
  </p:sldMasterIdLst>
  <p:notesMasterIdLst>
    <p:notesMasterId xmlns:r="http://schemas.openxmlformats.org/officeDocument/2006/relationships" r:id="R6f95ab1171d24046"/>
  </p:notesMasterIdLst>
  <p:sldIdLst>
    <p:sldId xmlns:r="http://schemas.openxmlformats.org/officeDocument/2006/relationships" id="256" r:id="Rd9f605385f0f47e0"/>
    <p:sldId xmlns:r="http://schemas.openxmlformats.org/officeDocument/2006/relationships" id="257" r:id="R86d092d993ed47aa"/>
    <p:sldId xmlns:r="http://schemas.openxmlformats.org/officeDocument/2006/relationships" id="258" r:id="R600563aa51444ba7"/>
    <p:sldId xmlns:r="http://schemas.openxmlformats.org/officeDocument/2006/relationships" id="259" r:id="R90a3808c167b4405"/>
    <p:sldId xmlns:r="http://schemas.openxmlformats.org/officeDocument/2006/relationships" id="260" r:id="Rca1ab5a90f464619"/>
    <p:sldId xmlns:r="http://schemas.openxmlformats.org/officeDocument/2006/relationships" id="261" r:id="R9c3845167e76416e"/>
    <p:sldId xmlns:r="http://schemas.openxmlformats.org/officeDocument/2006/relationships" id="262" r:id="R5904b39417f047a2"/>
    <p:sldId xmlns:r="http://schemas.openxmlformats.org/officeDocument/2006/relationships" id="263" r:id="R249c09e6531b4d82"/>
    <p:sldId xmlns:r="http://schemas.openxmlformats.org/officeDocument/2006/relationships" id="264" r:id="R1e4ec1b72eaa4b3c"/>
    <p:sldId xmlns:r="http://schemas.openxmlformats.org/officeDocument/2006/relationships" id="265" r:id="R9bdf7249444040d4"/>
    <p:sldId xmlns:r="http://schemas.openxmlformats.org/officeDocument/2006/relationships" id="266" r:id="Rff7d79ea62774da4"/>
    <p:sldId xmlns:r="http://schemas.openxmlformats.org/officeDocument/2006/relationships" id="267" r:id="Rfdb7bcc154c341de"/>
    <p:sldId xmlns:r="http://schemas.openxmlformats.org/officeDocument/2006/relationships" id="268" r:id="Rd4011f37954a4b8a"/>
    <p:sldId xmlns:r="http://schemas.openxmlformats.org/officeDocument/2006/relationships" id="269" r:id="Re72e0d09ed3141a3"/>
    <p:sldId xmlns:r="http://schemas.openxmlformats.org/officeDocument/2006/relationships" id="270" r:id="Ra10e2139b8264a21"/>
    <p:sldId xmlns:r="http://schemas.openxmlformats.org/officeDocument/2006/relationships" id="271" r:id="Refa34e030c2c4eca"/>
    <p:sldId xmlns:r="http://schemas.openxmlformats.org/officeDocument/2006/relationships" id="272" r:id="R4dae109797f64ce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5cc71c445934b92" /><Relationship Type="http://schemas.openxmlformats.org/officeDocument/2006/relationships/slideMaster" Target="/ppt/slideMasters/slideMaster1.xml" Id="R8d3cdf605f994036" /><Relationship Type="http://schemas.openxmlformats.org/officeDocument/2006/relationships/notesMaster" Target="/ppt/notesMasters/notesMaster1.xml" Id="R6f95ab1171d24046" /><Relationship Type="http://schemas.openxmlformats.org/officeDocument/2006/relationships/presProps" Target="/ppt/presProps.xml" Id="R8bb5c340165a4edb" /><Relationship Type="http://schemas.openxmlformats.org/officeDocument/2006/relationships/tableStyles" Target="/ppt/tableStyles.xml" Id="Rb14a98d5c73443a6" /><Relationship Type="http://schemas.openxmlformats.org/officeDocument/2006/relationships/slide" Target="/ppt/slides/slide1.xml" Id="Rd9f605385f0f47e0" /><Relationship Type="http://schemas.openxmlformats.org/officeDocument/2006/relationships/slide" Target="/ppt/slides/slide2.xml" Id="R86d092d993ed47aa" /><Relationship Type="http://schemas.openxmlformats.org/officeDocument/2006/relationships/slide" Target="/ppt/slides/slide3.xml" Id="R600563aa51444ba7" /><Relationship Type="http://schemas.openxmlformats.org/officeDocument/2006/relationships/slide" Target="/ppt/slides/slide4.xml" Id="R90a3808c167b4405" /><Relationship Type="http://schemas.openxmlformats.org/officeDocument/2006/relationships/slide" Target="/ppt/slides/slide5.xml" Id="Rca1ab5a90f464619" /><Relationship Type="http://schemas.openxmlformats.org/officeDocument/2006/relationships/slide" Target="/ppt/slides/slide6.xml" Id="R9c3845167e76416e" /><Relationship Type="http://schemas.openxmlformats.org/officeDocument/2006/relationships/slide" Target="/ppt/slides/slide7.xml" Id="R5904b39417f047a2" /><Relationship Type="http://schemas.openxmlformats.org/officeDocument/2006/relationships/slide" Target="/ppt/slides/slide8.xml" Id="R249c09e6531b4d82" /><Relationship Type="http://schemas.openxmlformats.org/officeDocument/2006/relationships/slide" Target="/ppt/slides/slide9.xml" Id="R1e4ec1b72eaa4b3c" /><Relationship Type="http://schemas.openxmlformats.org/officeDocument/2006/relationships/slide" Target="/ppt/slides/slide10.xml" Id="R9bdf7249444040d4" /><Relationship Type="http://schemas.openxmlformats.org/officeDocument/2006/relationships/slide" Target="/ppt/slides/slide11.xml" Id="Rff7d79ea62774da4" /><Relationship Type="http://schemas.openxmlformats.org/officeDocument/2006/relationships/slide" Target="/ppt/slides/slide12.xml" Id="Rfdb7bcc154c341de" /><Relationship Type="http://schemas.openxmlformats.org/officeDocument/2006/relationships/slide" Target="/ppt/slides/slide13.xml" Id="Rd4011f37954a4b8a" /><Relationship Type="http://schemas.openxmlformats.org/officeDocument/2006/relationships/slide" Target="/ppt/slides/slide14.xml" Id="Re72e0d09ed3141a3" /><Relationship Type="http://schemas.openxmlformats.org/officeDocument/2006/relationships/slide" Target="/ppt/slides/slide15.xml" Id="Ra10e2139b8264a21" /><Relationship Type="http://schemas.openxmlformats.org/officeDocument/2006/relationships/slide" Target="/ppt/slides/slide16.xml" Id="Refa34e030c2c4eca" /><Relationship Type="http://schemas.openxmlformats.org/officeDocument/2006/relationships/slide" Target="/ppt/slides/slide17.xml" Id="R4dae109797f64ce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b55bc16e4eb4cb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a2ab96c9dbd47e6" /><Relationship Type="http://schemas.openxmlformats.org/officeDocument/2006/relationships/notesMaster" Target="/ppt/notesMasters/notesMaster1.xml" Id="R9caacb1e97b2466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33075de24934a01" /><Relationship Type="http://schemas.openxmlformats.org/officeDocument/2006/relationships/notesMaster" Target="/ppt/notesMasters/notesMaster1.xml" Id="R757a7df011fe4e6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6d3030f860f44ef" /><Relationship Type="http://schemas.openxmlformats.org/officeDocument/2006/relationships/notesMaster" Target="/ppt/notesMasters/notesMaster1.xml" Id="R046648fd6faa479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773855575234ec9" /><Relationship Type="http://schemas.openxmlformats.org/officeDocument/2006/relationships/notesMaster" Target="/ppt/notesMasters/notesMaster1.xml" Id="R3e1a716ecfef425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7e712bfa6b94253" /><Relationship Type="http://schemas.openxmlformats.org/officeDocument/2006/relationships/notesMaster" Target="/ppt/notesMasters/notesMaster1.xml" Id="R218d7879da724bd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a9bf95e0286473b" /><Relationship Type="http://schemas.openxmlformats.org/officeDocument/2006/relationships/notesMaster" Target="/ppt/notesMasters/notesMaster1.xml" Id="R77ed5568d87446c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43bb1a3eb40455b" /><Relationship Type="http://schemas.openxmlformats.org/officeDocument/2006/relationships/notesMaster" Target="/ppt/notesMasters/notesMaster1.xml" Id="Rce29289526ec4e5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c57c2cc931448eb" /><Relationship Type="http://schemas.openxmlformats.org/officeDocument/2006/relationships/notesMaster" Target="/ppt/notesMasters/notesMaster1.xml" Id="R093ae932fc874d9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8922812a5984601" /><Relationship Type="http://schemas.openxmlformats.org/officeDocument/2006/relationships/notesMaster" Target="/ppt/notesMasters/notesMaster1.xml" Id="Rfd569d7d19f7401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d4c327109654869" /><Relationship Type="http://schemas.openxmlformats.org/officeDocument/2006/relationships/notesMaster" Target="/ppt/notesMasters/notesMaster1.xml" Id="R1c95f794d1cc4c5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ae28b0ad2e84872" /><Relationship Type="http://schemas.openxmlformats.org/officeDocument/2006/relationships/notesMaster" Target="/ppt/notesMasters/notesMaster1.xml" Id="Rede4b3e4cc46401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822d310d6ab4f7b" /><Relationship Type="http://schemas.openxmlformats.org/officeDocument/2006/relationships/notesMaster" Target="/ppt/notesMasters/notesMaster1.xml" Id="R8a1b576673074d1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f822bc6bd144082" /><Relationship Type="http://schemas.openxmlformats.org/officeDocument/2006/relationships/notesMaster" Target="/ppt/notesMasters/notesMaster1.xml" Id="R73e06e6410f149b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06f0c963fc84f8b" /><Relationship Type="http://schemas.openxmlformats.org/officeDocument/2006/relationships/notesMaster" Target="/ppt/notesMasters/notesMaster1.xml" Id="Rf26e276bee0240c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6381bf0bb894223" /><Relationship Type="http://schemas.openxmlformats.org/officeDocument/2006/relationships/notesMaster" Target="/ppt/notesMasters/notesMaster1.xml" Id="R1086e119a4c84d9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8b6aac65b174874" /><Relationship Type="http://schemas.openxmlformats.org/officeDocument/2006/relationships/notesMaster" Target="/ppt/notesMasters/notesMaster1.xml" Id="R4de18b4713084b0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30a2fe0bf284425" /><Relationship Type="http://schemas.openxmlformats.org/officeDocument/2006/relationships/notesMaster" Target="/ppt/notesMasters/notesMaster1.xml" Id="R60d1cdeaa5924ca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Latest deadline preparation preserves original-prompt primary results and separate coursework clarification. Current Haiku quota 100%; historical checkpoint statements below refer to the earlier 181-run package. Sources: output/kku-only-20261001/summary.json, analysis.json, study-manifest.csv. Audits and source records linked by SHA-256. New account: results/validation/new-account-haiku-20261002/continuation-receipt.json. Time102, Mockito103 and Compress101 add three completed identities. Compress101 detects a sampled fault. Owner selected Haiku before Time102 submission and later requested packaging without another account.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Latest deadline preparation preserves original-prompt primary results and separate coursework clarification. Current Haiku quota 100%; historical checkpoint statements below refer to the earlier 181-run package. Sources: output/kku-only-20261001/summary.json, analysis.json, study-manifest.csv. Audits and source records linked by SHA-256. New account: results/validation/new-account-haiku-20261002/continuation-receipt.json. Time102, Mockito103 and Compress101 add three completed identities. Compress101 detects a sampled fault. Owner selected Haiku before Time102 submission and later requested packaging without another account.</a:t>
            </a:r>
          </a:p>
          <a:p xmlns:a="http://schemas.openxmlformats.org/drawingml/2006/main">
            <a:r>
              <a:t>204 runs is the team plan, not a number mandated by the assignment. All sampled bug IDs are 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Latest deadline preparation preserves original-prompt primary results and separate coursework clarification. Current Haiku quota 100%; historical checkpoint statements below refer to the earlier 181-run package. Sources: output/kku-only-20261001/summary.json, analysis.json, study-manifest.csv. Audits and source records linked by SHA-256. New account: results/validation/new-account-haiku-20261002/continuation-receipt.json. Time102, Mockito103 and Compress101 add three completed identities. Compress101 detects a sampled fault. Owner selected Haiku before Time102 submission and later requested packaging without another account.</a:t>
            </a:r>
          </a:p>
          <a:p xmlns:a="http://schemas.openxmlformats.org/drawingml/2006/main">
            <a:r>
              <a:t>Owner changed the round-one AI comparison. Instructor approval is not assumed. Historical Auto Router outputs are reused only when resolved allowed-family labels and provenance agree.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scripts/study/generate.py; docs/study-protocol.md; Hansen tutorial https://arxiv.org/abs/1604.00772; Chen et al. https://doi.org/10.1007/978-3-540-30502-6_23. Coverage is measured afterward, not used as CMA-ES fitness.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Latest deadline preparation preserves original-prompt primary results and separate coursework clarification. Current Haiku quota 100%; historical checkpoint statements below refer to the earlier 181-run package. Sources: output/kku-only-20261001/summary.json, analysis.json, study-manifest.csv. Audits and source records linked by SHA-256. New account: results/validation/new-account-haiku-20261002/continuation-receipt.json. Time102, Mockito103 and Compress101 add three completed identities. Compress101 detects a sampled fault. Owner selected Haiku before Time102 submission and later requested packaging without another account.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Latest deadline preparation preserves original-prompt primary results and separate coursework clarification. Current Haiku quota 100%; historical checkpoint statements below refer to the earlier 181-run package. Sources: output/kku-only-20261001/summary.json, analysis.json, study-manifest.csv. Audits and source records linked by SHA-256. New account: results/validation/new-account-haiku-20261002/continuation-receipt.json. Time102, Mockito103 and Compress101 add three completed identities. Compress101 detects a sampled fault. Owner selected Haiku before Time102 submission and later requested packaging without another account.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Latest deadline preparation preserves original-prompt primary results and separate coursework clarification. Current Haiku quota 100%; historical checkpoint statements below refer to the earlier 181-run package. Sources: output/kku-only-20261001/summary.json, analysis.json, study-manifest.csv. Audits and source records linked by SHA-256. New account: results/validation/new-account-haiku-20261002/continuation-receipt.json. Time102, Mockito103 and Compress101 add three completed identities. Compress101 detects a sampled fault. Owner selected Haiku before Time102 submission and later requested packaging without another account.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Latest deadline preparation preserves original-prompt primary results and separate coursework clarification. Current Haiku quota 100%; historical checkpoint statements below refer to the earlier 181-run package. Sources: output/kku-only-20261001/summary.json, analysis.json, study-manifest.csv. Audits and source records linked by SHA-256. New account: results/validation/new-account-haiku-20261002/continuation-receipt.json. Time102, Mockito103 and Compress101 add three completed identities. Compress101 detects a sampled fault. Owner selected Haiku before Time102 submission and later requested packaging without another account.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Latest deadline preparation preserves original-prompt primary results and separate coursework clarification. Current Haiku quota 100%; historical checkpoint statements below refer to the earlier 181-run package. Sources: output/kku-only-20261001/summary.json, analysis.json, study-manifest.csv. Audits and source records linked by SHA-256. New account: results/validation/new-account-haiku-20261002/continuation-receipt.json. Time102, Mockito103 and Compress101 add three completed identities. Compress101 detects a sampled fault. Owner selected Haiku before Time102 submission and later requested packaging without another account.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Latest deadline preparation preserves original-prompt primary results and separate coursework clarification. Current Haiku quota 100%; historical checkpoint statements below refer to the earlier 181-run package. Sources: output/kku-only-20261001/summary.json, analysis.json, study-manifest.csv. Audits and source records linked by SHA-256. New account: results/validation/new-account-haiku-20261002/continuation-receipt.json. Time102, Mockito103 and Compress101 add three completed identities. Compress101 detects a sampled fault. Owner selected Haiku before Time102 submission and later requested packaging without another account.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Latest deadline preparation preserves original-prompt primary results and separate coursework clarification. Current Haiku quota 100%; historical checkpoint statements below refer to the earlier 181-run package. Sources: output/kku-only-20261001/summary.json, analysis.json, study-manifest.csv. Audits and source records linked by SHA-256. New account: results/validation/new-account-haiku-20261002/continuation-receipt.json. Time102, Mockito103 and Compress101 add three completed identities. Compress101 detects a sampled fault. Owner selected Haiku before Time102 submission and later requested packaging without another account.</a:t>
            </a:r>
          </a:p>
          <a:p xmlns:a="http://schemas.openxmlformats.org/drawingml/2006/main">
            <a:r>
              <a:t>New v73/v74 use the generic policy and preserve separate attempt history. v75 excludes one entire Compress101 method with unsupported constructor using only fixed compiler diagnostics; retained assertions unchanged. Time102 retains complete UnsupportedDurationField class and preserves incomplete Partial output separately. Policies and snapshots: results/study/kku-only-20261001/processing-policy-v*.json and generation/processing-sources. Missing historical policy files are not reconstructed as prior evidence. No assertion values selected from buggy outcomes. Compile rate describes final primary records, not all attempts.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Latest deadline preparation preserves original-prompt primary results and separate coursework clarification. Current Haiku quota 100%; historical checkpoint statements below refer to the earlier 181-run package. Sources: output/kku-only-20261001/summary.json, analysis.json, study-manifest.csv. Audits and source records linked by SHA-256. New account: results/validation/new-account-haiku-20261002/continuation-receipt.json. Time102, Mockito103 and Compress101 add three completed identities. Compress101 detects a sampled fault. Owner selected Haiku before Time102 submission and later requested packaging without another account.</a:t>
            </a:r>
          </a:p>
          <a:p xmlns:a="http://schemas.openxmlformats.org/drawingml/2006/main">
            <a:r>
              <a:t>Example records: results/study/kku-only-20261001/{claude,gemini}/Jsoup/intellisphere-s101-b30/evaluation/record.json. Demo guide: presentation/demo-guide-kku-only.md.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Latest deadline preparation preserves original-prompt primary results and separate coursework clarification. Current Haiku quota 100%; historical checkpoint statements below refer to the earlier 181-run package. Sources: output/kku-only-20261001/summary.json, analysis.json, study-manifest.csv. Audits and source records linked by SHA-256. New account: results/validation/new-account-haiku-20261002/continuation-receipt.json. Time102, Mockito103 and Compress101 add three completed identities. Compress101 detects a sampled fault. Owner selected Haiku before Time102 submission and later requested packaging without another account.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Latest deadline preparation preserves original-prompt primary results and separate coursework clarification. Current Haiku quota 100%; historical checkpoint statements below refer to the earlier 181-run package. Sources: output/kku-only-20261001/summary.json, analysis.json, study-manifest.csv. Audits and source records linked by SHA-256. New account: results/validation/new-account-haiku-20261002/continuation-receipt.json. Time102, Mockito103 and Compress101 add three completed identities. Compress101 detects a sampled fault. Owner selected Haiku before Time102 submission and later requested packaging without another account.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Latest deadline preparation preserves original-prompt primary results and separate coursework clarification. Current Haiku quota 100%; historical checkpoint statements below refer to the earlier 181-run package. Sources: output/kku-only-20261001/summary.json, analysis.json, study-manifest.csv. Audits and source records linked by SHA-256. New account: results/validation/new-account-haiku-20261002/continuation-receipt.json. Time102, Mockito103 and Compress101 add three completed identities. Compress101 detects a sampled fault. Owner selected Haiku before Time102 submission and later requested packaging without another account.</a:t>
            </a:r>
          </a:p>
          <a:p xmlns:a="http://schemas.openxmlformats.org/drawingml/2006/main">
            <a:r>
              <a:t>Commands and walkthrough: docs/KKU_ONLY_CONTINUATION.md and presentation/demo-guide-kku-only.md. Old aggregate.py commands describe the original study, not this new comparison.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Latest deadline preparation preserves original-prompt primary results and separate coursework clarification. Current Haiku quota 100%; historical checkpoint statements below refer to the earlier 181-run package. Sources: output/kku-only-20261001/summary.json, analysis.json, study-manifest.csv. Audits and source records linked by SHA-256. New account: results/validation/new-account-haiku-20261002/continuation-receipt.json. Time102, Mockito103 and Compress101 add three completed identities. Compress101 detects a sampled fault. Owner selected Haiku before Time102 submission and later requested packaging without another account.</a:t>
            </a:r>
          </a:p>
          <a:p xmlns:a="http://schemas.openxmlformats.org/drawingml/2006/main">
            <a:r>
              <a:t>Updated source: docs/HAIKU_CLARIFICATION_RESULT_20261002_TH.md; clarified-evidence-audit-20261002.json; source-processing policies v84-v88. Actual current completion is in summary.json. Five Sonnet results remain historical; no relabelling as Haiku.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docs/reference/SQA_Round1_กลุ่ม14.pdf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233d467d6a40e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2359d53cf8c4e3d" /><Relationship Type="http://schemas.openxmlformats.org/officeDocument/2006/relationships/slideLayout" Target="/ppt/slideLayouts/slideLayout1.xml" Id="Rb27ec5b5fb6a41d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27ec5b5fb6a41d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8f4f22b3974824" /><Relationship Type="http://schemas.openxmlformats.org/officeDocument/2006/relationships/notesSlide" Target="/ppt/notesSlides/notesSlide1.xml" Id="Rb4f854056ce04ee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be44a636fa4b77" /><Relationship Type="http://schemas.openxmlformats.org/officeDocument/2006/relationships/notesSlide" Target="/ppt/notesSlides/notesSlide2.xml" Id="Re484a06bfaff4fe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7e218ab22044c9" /><Relationship Type="http://schemas.openxmlformats.org/officeDocument/2006/relationships/notesSlide" Target="/ppt/notesSlides/notesSlide3.xml" Id="R34bae69ae09743f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557ef01ea94696" /><Relationship Type="http://schemas.openxmlformats.org/officeDocument/2006/relationships/notesSlide" Target="/ppt/notesSlides/notesSlide4.xml" Id="Ra64604be82604a3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58520e4cf5428a" /><Relationship Type="http://schemas.openxmlformats.org/officeDocument/2006/relationships/notesSlide" Target="/ppt/notesSlides/notesSlide5.xml" Id="R12cf5382892b4e3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aac00d72da4290" /><Relationship Type="http://schemas.openxmlformats.org/officeDocument/2006/relationships/notesSlide" Target="/ppt/notesSlides/notesSlide6.xml" Id="R7754d25b5b6f433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9fd0c253c64d9b" /><Relationship Type="http://schemas.openxmlformats.org/officeDocument/2006/relationships/chart" Target="/ppt/slides/charts/chart1.xml" Id="R5803a36665304ff0" /><Relationship Type="http://schemas.openxmlformats.org/officeDocument/2006/relationships/notesSlide" Target="/ppt/notesSlides/notesSlide7.xml" Id="Rb5b075ab9f1345f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b5420ed19243c2" /><Relationship Type="http://schemas.openxmlformats.org/officeDocument/2006/relationships/notesSlide" Target="/ppt/notesSlides/notesSlide8.xml" Id="Rc15255b87ae944f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fbcdddcc084895" /><Relationship Type="http://schemas.openxmlformats.org/officeDocument/2006/relationships/notesSlide" Target="/ppt/notesSlides/notesSlide9.xml" Id="R2744c991b040435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f182cd522143c2" /><Relationship Type="http://schemas.openxmlformats.org/officeDocument/2006/relationships/notesSlide" Target="/ppt/notesSlides/notesSlide10.xml" Id="Rc3c976c483604d0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cb452ce7c84591" /><Relationship Type="http://schemas.openxmlformats.org/officeDocument/2006/relationships/notesSlide" Target="/ppt/notesSlides/notesSlide11.xml" Id="R52450e03d84e45d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3ec3c741a64a8f" /><Relationship Type="http://schemas.openxmlformats.org/officeDocument/2006/relationships/notesSlide" Target="/ppt/notesSlides/notesSlide12.xml" Id="R03e47f2943b54fd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af9d95e60e454a" /><Relationship Type="http://schemas.openxmlformats.org/officeDocument/2006/relationships/notesSlide" Target="/ppt/notesSlides/notesSlide13.xml" Id="Ra5b9b130434b460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16629cdc924050" /><Relationship Type="http://schemas.openxmlformats.org/officeDocument/2006/relationships/notesSlide" Target="/ppt/notesSlides/notesSlide14.xml" Id="Re478d06e66ee482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9491458c3e4df1" /><Relationship Type="http://schemas.openxmlformats.org/officeDocument/2006/relationships/notesSlide" Target="/ppt/notesSlides/notesSlide15.xml" Id="R6966678793a5432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0844e40f094c69" /><Relationship Type="http://schemas.openxmlformats.org/officeDocument/2006/relationships/notesSlide" Target="/ppt/notesSlides/notesSlide16.xml" Id="R68d94595df6f4d2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e0be3b3e094981" /><Relationship Type="http://schemas.openxmlformats.org/officeDocument/2006/relationships/notesSlide" Target="/ppt/notesSlides/notesSlide17.xml" Id="R3e59482a49d44ab7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Line macro (%)</c:v>
          </c:tx>
          <c:spPr>
            <a:solidFill xmlns:a="http://schemas.openxmlformats.org/drawingml/2006/main">
              <a:srgbClr val="245B82"/>
            </a:solidFill>
          </c:spPr>
          <c:cat>
            <c:strRef>
              <c:f>'Chart Data'!$A$2:$A$5</c:f>
              <c:strCache>
                <c:ptCount val="4"/>
                <c:pt idx="0">
                  <c:v>CMA-ES</c:v>
                </c:pt>
                <c:pt idx="1">
                  <c:v>FSCS-ART</c:v>
                </c:pt>
                <c:pt idx="2">
                  <c:v>KKU Claude</c:v>
                </c:pt>
                <c:pt idx="3">
                  <c:v>KKU Gemini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26.63</c:v>
                </c:pt>
                <c:pt idx="1">
                  <c:v>26.41</c:v>
                </c:pt>
                <c:pt idx="2">
                  <c:v>55.53</c:v>
                </c:pt>
                <c:pt idx="3">
                  <c:v>71.92</c:v>
                </c:pt>
              </c:numCache>
            </c:numRef>
          </c:val>
        </c:ser>
        <c:ser>
          <c:idx val="1"/>
          <c:order val="1"/>
          <c:tx>
            <c:v>Condition macro (%)</c:v>
          </c:tx>
          <c:spPr>
            <a:solidFill xmlns:a="http://schemas.openxmlformats.org/drawingml/2006/main">
              <a:srgbClr val="709A9D"/>
            </a:solidFill>
          </c:spPr>
          <c:cat>
            <c:strRef>
              <c:f>'Chart Data'!$C$2:$C$5</c:f>
              <c:strCache>
                <c:ptCount val="4"/>
                <c:pt idx="0">
                  <c:v>CMA-ES</c:v>
                </c:pt>
                <c:pt idx="1">
                  <c:v>FSCS-ART</c:v>
                </c:pt>
                <c:pt idx="2">
                  <c:v>KKU Claude</c:v>
                </c:pt>
                <c:pt idx="3">
                  <c:v>KKU Gemini</c:v>
                </c:pt>
              </c:strCache>
            </c:strRef>
          </c:cat>
          <c:val>
            <c:numRef>
              <c:f>'Chart Data'!$D$2:$D$5</c:f>
              <c:numCache>
                <c:formatCode>General</c:formatCode>
                <c:ptCount val="4"/>
                <c:pt idx="0">
                  <c:v>15.09</c:v>
                </c:pt>
                <c:pt idx="1">
                  <c:v>15.63</c:v>
                </c:pt>
                <c:pt idx="2">
                  <c:v>45.71</c:v>
                </c:pt>
                <c:pt idx="3">
                  <c:v>62.02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 b="1">
                  <a:latin typeface="Tahoma"/>
                  <a:ea typeface="Tahoma"/>
                  <a:cs typeface="Tahoma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Tahoma"/>
                <a:ea typeface="Tahoma"/>
                <a:cs typeface="Tahoma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Tahoma"/>
                <a:ea typeface="Tahoma"/>
                <a:cs typeface="Tahoma"/>
              </a:defRPr>
            </a:pPr>
          </a:p>
        </c:txPr>
        <c:crossAx val="48650112"/>
        <c:crossBetween val="between"/>
        <c:majorUnit val="25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>
              <a:latin typeface="Tahoma"/>
              <a:ea typeface="Tahoma"/>
              <a:cs typeface="Tahoma"/>
            </a:defRPr>
          </a:pPr>
        </a:p>
      </c:txPr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FC5726-8E0D-4178-9793-BF6B16D4A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การสร้างชุดทดสอบ Java รอบที่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DA5018-DD3D-4F1C-9367-380C79030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859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CMA-ES และ FSCS-ART เทียบกับ Claude และ Gemini ผ่าน KKU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5E6B40-6A19-4162-91F0-DCC94A050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241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CP353201 Software Quality Assurance / กลุ่ม 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2E234F-9BD3-4A69-BC51-CA21E65E8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623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สำเร็จ 183/204 รอบตามแผนทีม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9FBA53-4930-4AB7-967A-E9BBE74EC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005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ผลทดลองยังไม่ครบ และยังไม่ใช่หลักฐานการส่งงาน</a:t>
            </a:r>
          </a:p>
        </p:txBody>
      </p:sp>
    </p:spTree>
    <p:extLst>
      <p:ext uri="{BB962C8B-B14F-4D97-AF65-F5344CB8AC3E}">
        <p14:creationId xmlns:p14="http://schemas.microsoft.com/office/powerpoint/2010/main" val="600357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DE6904-3631-487C-AD3F-4C407996F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ขอบเขตการทดลอง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004C32-5E43-44AD-8C15-137F0A3E2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859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17 Java projects ใน Defects4J 3.0.1 / หนึ่ง active bug ต่อ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443195-1C8C-4DB0-8647-8A80E14A9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241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3 run indices: 101, 102, 103 / สูงสุด 30 test methods ต่อ AI suite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E024E9-2660-4FFF-BA75-06BC98FE7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623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อัลกอริทึมเสนอ 30 input vectors ต่อ run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0C324F-C3B1-49F2-875A-5F2248F01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005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วัด coverage เฉพาะ classes ที่แก้ไขใน bug ที่เลือก</a:t>
            </a:r>
          </a:p>
        </p:txBody>
      </p:sp>
    </p:spTree>
    <p:extLst>
      <p:ext uri="{BB962C8B-B14F-4D97-AF65-F5344CB8AC3E}">
        <p14:creationId xmlns:p14="http://schemas.microsoft.com/office/powerpoint/2010/main" val="1894245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C1BC27-F6E9-4B3B-BD7A-066BFA432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ข้อกำหนด AI ปัจจุบัน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74DF8E-A5B0-4C47-9E26-F18550916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859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ผลหลักใช้ prompt เดิมผ่าน KKU / clarification แยกเงื่อนไข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F3785B-7923-4360-ADF3-B7FD35C32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241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คำตอบใหม่เลือก Claude หรือ Gemini agent โดยตรง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8E8060-79A0-4A62-9AB8-389B69C8B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623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Haiku เป็นรุ่นสำหรับงานใหม่ / Sonnet เดิมแยกตาม model label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A6493B-B7B6-46F7-8417-5E9CE0317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005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Claude-direct และโมเดลตระกูลอื่นไม่รวมในผลหลัก</a:t>
            </a:r>
          </a:p>
        </p:txBody>
      </p:sp>
    </p:spTree>
    <p:extLst>
      <p:ext uri="{BB962C8B-B14F-4D97-AF65-F5344CB8AC3E}">
        <p14:creationId xmlns:p14="http://schemas.microsoft.com/office/powerpoint/2010/main" val="16624765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E42409-A350-427E-9879-448A04641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อัลกอริทึมและ oracle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9EAF91-8918-49A4-86D3-99B039E81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859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FSCS-ART เลือก candidate ที่ห่างจาก input ก่อนหน้ามากที่สุด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1A0519-B472-4917-A6A9-BCD16D6DF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241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CMA-ES ปรับ distribution เพื่อเพิ่ม fixed-output diversity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1E23F2-3B4E-4DBA-BE31-C81299384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623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Reflection fixtures มีขอบเขตจำกัด รวมสมาชิก non-public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A4A86E-4DB4-40E8-99EF-E062EEABA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005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สังเกต fixed ซ้ำก่อนสร้าง assertions และเก็บ unstable cases</a:t>
            </a:r>
          </a:p>
        </p:txBody>
      </p:sp>
    </p:spTree>
    <p:extLst>
      <p:ext uri="{BB962C8B-B14F-4D97-AF65-F5344CB8AC3E}">
        <p14:creationId xmlns:p14="http://schemas.microsoft.com/office/powerpoint/2010/main" val="8129550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FC6C85-8BEE-4419-A788-1AC26DF74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หลักฐานที่ต้องผ่านก่อนนับ completed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FC9708-6886-449B-8EA7-93C0C75BD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859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JUnit suite ผ่าน fixed ครั้งที่ 1 และครั้งที่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A946E1-CC63-4779-9C2F-8401C0B26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241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รัน buggy เพื่อแยก assertion failure จาก harness/timeout errors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D68E71-402A-47D2-9C44-CCFF4E5EA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623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เก็บ fixed coverage, logs, suite archives และ processing hashes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D2C8ED-D1DC-4CC8-AD2B-161A13689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005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Execution audit ผ่าน / record SHA ตรง manifest; provenance gaps เปิดเผยแยก</a:t>
            </a:r>
          </a:p>
        </p:txBody>
      </p:sp>
    </p:spTree>
    <p:extLst>
      <p:ext uri="{BB962C8B-B14F-4D97-AF65-F5344CB8AC3E}">
        <p14:creationId xmlns:p14="http://schemas.microsoft.com/office/powerpoint/2010/main" val="5312050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F710A9-9726-4DB1-B335-511601513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ผลที่สำเร็จและ test methods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723900" y="1685925"/>
          <a:ext xmlns:a="http://schemas.openxmlformats.org/drawingml/2006/main" cx="107442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2190750"/>
                <a:gridCol w="2571750"/>
                <a:gridCol w="2552700"/>
              </a:tblGrid>
              <a:tr h="6858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วิธี</a:t>
                      </a:r>
                    </a:p>
                  </a:txBody>
                  <a:tcPr marL="91440" marR="91440" marT="45720" marB="45720">
                    <a:solidFill>
                      <a:srgbClr val="E7ED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Runs / 51</a:t>
                      </a:r>
                    </a:p>
                  </a:txBody>
                  <a:tcPr marL="91440" marR="91440" marT="45720" marB="45720">
                    <a:solidFill>
                      <a:srgbClr val="E7ED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Projects / 17</a:t>
                      </a:r>
                    </a:p>
                  </a:txBody>
                  <a:tcPr marL="91440" marR="91440" marT="45720" marB="45720">
                    <a:solidFill>
                      <a:srgbClr val="E7ED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Methods</a:t>
                      </a:r>
                    </a:p>
                  </a:txBody>
                  <a:tcPr marL="91440" marR="91440" marT="45720" marB="45720">
                    <a:solidFill>
                      <a:srgbClr val="E7EDF3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CMA-ES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51/51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17/17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1529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FSCS-ART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51/51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17/17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1529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KKU Claude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30/51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15/17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782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KKU Gemini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51/51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17/17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988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F419E0-D44B-4882-979C-184BCA2C0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673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Methods รวมสถานการณ์ที่อาจซ้ำข้ามรอบ ไม่ใช่ unique scenarios</a:t>
            </a:r>
          </a:p>
        </p:txBody>
      </p:sp>
    </p:spTree>
    <p:extLst>
      <p:ext uri="{BB962C8B-B14F-4D97-AF65-F5344CB8AC3E}">
        <p14:creationId xmlns:p14="http://schemas.microsoft.com/office/powerpoint/2010/main" val="5674099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F1D2A5-57EB-4509-9229-17AE4CAF9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RQ1: Coverage ของ successful subsets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mlns:a="http://schemas.openxmlformats.org/drawingml/2006/main" x="809625" y="1571625"/>
          <a:ext xmlns:a="http://schemas.openxmlformats.org/drawingml/2006/main" cx="105727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803a36665304ff0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D1159A-4ED0-4716-A953-9162EC76A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626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ค่าเฉลี่ยต่อ run / ตัวหารต่างกัน / ใช้จัดอันดับทั่วไปไม่ได้</a:t>
            </a:r>
          </a:p>
        </p:txBody>
      </p:sp>
    </p:spTree>
    <p:extLst>
      <p:ext uri="{BB962C8B-B14F-4D97-AF65-F5344CB8AC3E}">
        <p14:creationId xmlns:p14="http://schemas.microsoft.com/office/powerpoint/2010/main" val="109734962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98CDA3-00DF-4E00-9F4D-1274A111F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RQ2: Fault detection พร้อมตัวหาร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723900" y="1685925"/>
          <a:ext xmlns:a="http://schemas.openxmlformats.org/drawingml/2006/main" cx="107442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2476500"/>
                <a:gridCol w="2476500"/>
                <a:gridCol w="2457450"/>
              </a:tblGrid>
              <a:tr h="6858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วิธี</a:t>
                      </a:r>
                    </a:p>
                  </a:txBody>
                  <a:tcPr marL="91440" marR="91440" marT="45720" marB="45720">
                    <a:solidFill>
                      <a:srgbClr val="E7ED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พบ / runs</a:t>
                      </a:r>
                    </a:p>
                  </a:txBody>
                  <a:tcPr marL="91440" marR="91440" marT="45720" marB="45720">
                    <a:solidFill>
                      <a:srgbClr val="E7ED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พบ / bugs</a:t>
                      </a:r>
                    </a:p>
                  </a:txBody>
                  <a:tcPr marL="91440" marR="91440" marT="45720" marB="45720">
                    <a:solidFill>
                      <a:srgbClr val="E7ED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Bug rate</a:t>
                      </a:r>
                    </a:p>
                  </a:txBody>
                  <a:tcPr marL="91440" marR="91440" marT="45720" marB="45720">
                    <a:solidFill>
                      <a:srgbClr val="E7EDF3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CMA-ES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9/51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5/17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29.4%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FSCS-ART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10/51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4/17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23.5%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KKU Claude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8/30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5/15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33.3%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KKU Gemini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23/51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9/17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52.9%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FEF7ED-C9FC-4767-96FD-79A67BDD9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7687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นับ bug เดียวครั้งเดียว แม้หลาย methods/runs ตรวจพบซ้ำ</a:t>
            </a:r>
          </a:p>
        </p:txBody>
      </p:sp>
    </p:spTree>
    <p:extLst>
      <p:ext uri="{BB962C8B-B14F-4D97-AF65-F5344CB8AC3E}">
        <p14:creationId xmlns:p14="http://schemas.microsoft.com/office/powerpoint/2010/main" val="84905897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5D4645-C911-427B-83E3-22EE04412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กลุ่มที่ครบสี่วิธี: 30 กลุ่ม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723900" y="1685925"/>
          <a:ext xmlns:a="http://schemas.openxmlformats.org/drawingml/2006/main" cx="107442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1238250"/>
                <a:gridCol w="3143250"/>
                <a:gridCol w="2743200"/>
              </a:tblGrid>
              <a:tr h="6858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วิธี</a:t>
                      </a:r>
                    </a:p>
                  </a:txBody>
                  <a:tcPr marL="91440" marR="91440" marT="45720" marB="45720">
                    <a:solidFill>
                      <a:srgbClr val="E7ED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n</a:t>
                      </a:r>
                    </a:p>
                  </a:txBody>
                  <a:tcPr marL="91440" marR="91440" marT="45720" marB="45720">
                    <a:solidFill>
                      <a:srgbClr val="E7ED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Line macro</a:t>
                      </a:r>
                    </a:p>
                  </a:txBody>
                  <a:tcPr marL="91440" marR="91440" marT="45720" marB="45720">
                    <a:solidFill>
                      <a:srgbClr val="E7ED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พบ / runs</a:t>
                      </a:r>
                    </a:p>
                  </a:txBody>
                  <a:tcPr marL="91440" marR="91440" marT="45720" marB="45720">
                    <a:solidFill>
                      <a:srgbClr val="E7EDF3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CMA-ES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30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34.3%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7/30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FSCS-ART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30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34.0%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8/30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KKU Claude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30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55.5%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8/30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KKU Gemini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30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78.4%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13/30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48CAC7-B4B9-4E5B-BDF9-AB9988A61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149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30 กลุ่มจาก 15 projects / รายการเต็มอยู่ใน analysis.json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12E538-5C72-417B-B5F5-E08DE55D0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24575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กลุ่มน้อยและเลือกจากชุดที่ผ่านทั้งหมด ยังมี selection bias</a:t>
            </a:r>
          </a:p>
        </p:txBody>
      </p:sp>
    </p:spTree>
    <p:extLst>
      <p:ext uri="{BB962C8B-B14F-4D97-AF65-F5344CB8AC3E}">
        <p14:creationId xmlns:p14="http://schemas.microsoft.com/office/powerpoint/2010/main" val="75824249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2D1872-385A-40F0-9468-355551C0C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RQ3: เวลาและ compilation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723900" y="1685925"/>
          <a:ext xmlns:a="http://schemas.openxmlformats.org/drawingml/2006/main" cx="107442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2762250"/>
                <a:gridCol w="2514600"/>
                <a:gridCol w="2514600"/>
              </a:tblGrid>
              <a:tr h="6858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วิธี</a:t>
                      </a:r>
                    </a:p>
                  </a:txBody>
                  <a:tcPr marL="91440" marR="91440" marT="45720" marB="45720">
                    <a:solidFill>
                      <a:srgbClr val="E7ED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Compile ผ่าน/วัด</a:t>
                      </a:r>
                    </a:p>
                  </a:txBody>
                  <a:tcPr marL="91440" marR="91440" marT="45720" marB="45720">
                    <a:solidFill>
                      <a:srgbClr val="E7ED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Eval median (s)</a:t>
                      </a:r>
                    </a:p>
                  </a:txBody>
                  <a:tcPr marL="91440" marR="91440" marT="45720" marB="45720">
                    <a:solidFill>
                      <a:srgbClr val="E7ED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Gen median (s)</a:t>
                      </a:r>
                    </a:p>
                  </a:txBody>
                  <a:tcPr marL="91440" marR="91440" marT="45720" marB="45720">
                    <a:solidFill>
                      <a:srgbClr val="E7EDF3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CMA-ES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51/51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55.64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13.50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FSCS-ART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51/51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54.42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13.61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KKU Claude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30/31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33.37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95.44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KKU Gemini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51/51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37.85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120.56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1DA552-1713-48B6-8E1C-096DE6AC7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102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AI generation = เวลา UI ที่สังเกต / ไม่ใช่ model compute time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724E21-9ADF-4DD8-87CB-B475DCCE5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6742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ต่างเครื่อง, caches และ build overhead มีผลต่อเวลา</a:t>
            </a:r>
          </a:p>
        </p:txBody>
      </p:sp>
    </p:spTree>
    <p:extLst>
      <p:ext uri="{BB962C8B-B14F-4D97-AF65-F5344CB8AC3E}">
        <p14:creationId xmlns:p14="http://schemas.microsoft.com/office/powerpoint/2010/main" val="132471542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EDA706-1B56-46B9-8A65-6F4395C06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ผล AI ผ่าน local processing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06BD6D-B46A-40CA-8ED5-87D5A0ACA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859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เก็บ raw response โดยไม่แก้ไข และเก็บ failed attempts ทุกครั้ง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F2E4F6-1627-45A1-8539-C98901E1F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241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Cap ตาม source order และ fixed-only pruning สูงสุดสองรอบ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753403-863D-4A44-9AE7-136CA42FD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623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เก็บ driver/source snapshots และเวอร์ชัน processing ของแต่ละ run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58320C-80ED-4B81-BDB6-8A79948E4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005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ใช้คำว่า AI-assisted with local processing ในรายงาน</a:t>
            </a:r>
          </a:p>
        </p:txBody>
      </p:sp>
    </p:spTree>
    <p:extLst>
      <p:ext uri="{BB962C8B-B14F-4D97-AF65-F5344CB8AC3E}">
        <p14:creationId xmlns:p14="http://schemas.microsoft.com/office/powerpoint/2010/main" val="59929612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F7915D-C4FF-4B56-B268-17D76E510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ตัวอย่างจริง: Jsoup รอบ 101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2CFFB5-3242-4200-817A-BB0851543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859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Claude Sonnet เดิม: 30 methods / พบ assertion failure บน buggy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13427A-D72F-4DC0-9978-FCAC79BBB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241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Gemini: 16 methods / fixed ผ่านซ้ำ / ไม่ตรวจพบ sampled bug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7529F9-55DF-4996-BD62-2938562A9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623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เปิด source ของ normalise และ failing_tests เพื่ออธิบายพฤติกรรม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9F4D03-F212-4677-B098-5F48B36E0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005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Coverage สูงต้องพิจารณาร่วมกับ assertions และ fault outcomes</a:t>
            </a:r>
          </a:p>
        </p:txBody>
      </p:sp>
    </p:spTree>
    <p:extLst>
      <p:ext uri="{BB962C8B-B14F-4D97-AF65-F5344CB8AC3E}">
        <p14:creationId xmlns:p14="http://schemas.microsoft.com/office/powerpoint/2010/main" val="54956329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F47621-FB16-4494-84E0-74C2C01CD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สถานะหลักฐานและผลที่ยังขาด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E49538-E757-46B4-809B-B01B4D857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859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Claude Haiku ในบัญชีปัจจุบันถึงโควต้า 100% แล้ว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3DF821-8013-4955-8DFD-511C54083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241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Provenance audit: 0 issues / ภาพและ hashes ตรวจแล้ว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4DB983-00FF-4AA0-981E-E6378AED6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623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ยังไม่ completed 21 รอบ / ดู pending-runs.csv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D7E931-0E3D-4165-BEA8-A7D115A5B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005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ได้รับภาพที่ขาด 54 รายการแล้ว / failed-missing metrics ยังเป็น null</a:t>
            </a:r>
          </a:p>
        </p:txBody>
      </p:sp>
    </p:spTree>
    <p:extLst>
      <p:ext uri="{BB962C8B-B14F-4D97-AF65-F5344CB8AC3E}">
        <p14:creationId xmlns:p14="http://schemas.microsoft.com/office/powerpoint/2010/main" val="97100094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03F7D0-3144-4AFC-B44F-042339834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ข้อจำกัดการเปรียบเทียบ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85B5B5-1617-47F4-9D0C-4F0DBEFF1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859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หนึ่ง bug ต่อ project / successful subsets และ model versions ต่างกัน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D666DD-8626-475E-AEBB-DDF8C0A09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241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Fixture/reflection/oracle จำกัด object graphs และ stateful sequences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D017E5-FEAA-4027-8325-E708B09E1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623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30 algorithm inputs และ 30 AI methods ใช้ effort ต่างกัน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0410E6-6273-46BD-B6C8-BCF98848C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005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ยังสรุปผู้ชนะทั่วไปหรือ causal speed advantage ไม่ได้</a:t>
            </a:r>
          </a:p>
        </p:txBody>
      </p:sp>
    </p:spTree>
    <p:extLst>
      <p:ext uri="{BB962C8B-B14F-4D97-AF65-F5344CB8AC3E}">
        <p14:creationId xmlns:p14="http://schemas.microsoft.com/office/powerpoint/2010/main" val="34006018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F4D68F-2D96-4F56-BEF3-CDC590DF4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Demo และการทำซ้ำ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4161DC-450B-49CD-AB3B-93A4BC6EE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859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เปิด manifest แล้วตรวจ path และ SHA ของ record ที่เลือก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A6B5D4-2A1B-4E7D-90DC-48F5C35EC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241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ดู generated source เทียบ fixed/buggy logs และ coverage.xml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429D97-5611-48C0-A41A-D50B488E9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623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รัน status และ audits ก่อนสร้าง analysis/report ใหม่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F4DBF2-935F-4CD3-A169-FBC831486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005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ตรวจ delivery-status.json ก่อนอ้างว่า GitHub/Classroom ส่งแล้ว</a:t>
            </a:r>
          </a:p>
        </p:txBody>
      </p:sp>
    </p:spTree>
    <p:extLst>
      <p:ext uri="{BB962C8B-B14F-4D97-AF65-F5344CB8AC3E}">
        <p14:creationId xmlns:p14="http://schemas.microsoft.com/office/powerpoint/2010/main" val="104492547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2669CA-ABE4-4F3D-9EC0-724B8B2FA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ผลเพิ่มเติมและการแยกรุ่น Claude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610F2B-AF64-45AF-B1D7-597933287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859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ผลหลัก Haiku 25/51 รอบ / Sonnet เดิม 5 รอบ แยกไว้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E782A6-54A2-41CE-B276-E7254AF8E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241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Time-1/101 clarification: 30 เทส / fixed ผ่าน / ไม่พบ fault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FAD184-117A-4D23-936A-BBDBAE471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623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Time เพิ่มแยกเงื่อนไข ไม่บวกเป็น prompt เดิมหรือบัคใหม่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630817-4C94-4FBF-B151-C8EE6FF90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005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JxPath clarification ไม่มีโค้ดเทส / งานยังไม่ครบทุกเงื่อนไข</a:t>
            </a:r>
          </a:p>
        </p:txBody>
      </p:sp>
    </p:spTree>
    <p:extLst>
      <p:ext uri="{BB962C8B-B14F-4D97-AF65-F5344CB8AC3E}">
        <p14:creationId xmlns:p14="http://schemas.microsoft.com/office/powerpoint/2010/main" val="212979798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82A145-6AC0-4BD2-8555-742FA6FBC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ผู้จัดทำ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3EA4BC-C62E-41CE-94B8-3DE18F6F3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859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นายธนินธร อันทรบุตร  673380043-6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C68DB0-E105-494E-8DD0-A7A761D4D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241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นายศุภกร กรมรินทร์  673380061-4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A584FA-DCB8-489C-B637-EE7226D8F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623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นายณัชพล เพ็งพล  673380267-4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154DFE-3514-4FF7-8E02-3AA29DFEF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005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นายณัฐกรณ์ อินธิสาร  673380268-2</a:t>
            </a:r>
          </a:p>
        </p:txBody>
      </p:sp>
    </p:spTree>
    <p:extLst>
      <p:ext uri="{BB962C8B-B14F-4D97-AF65-F5344CB8AC3E}">
        <p14:creationId xmlns:p14="http://schemas.microsoft.com/office/powerpoint/2010/main" val="9693991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2026-10-02T13:30:48.6120000Z</dcterms:created>
  <dcterms:modified xsi:type="dcterms:W3CDTF">2026-10-02T13:30:48.6120000Z</dcterms:modified>
</coreProperties>
</file>