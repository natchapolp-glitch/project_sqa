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152a764a354ea5" /><Relationship Type="http://schemas.openxmlformats.org/officeDocument/2006/relationships/extended-properties" Target="/docProps/app.xml" Id="Reff4b2f2c1cb4010" /><Relationship Type="http://schemas.openxmlformats.org/officeDocument/2006/relationships/officeDocument" Target="/ppt/presentation.xml" Id="R7f55f4d509f34c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8a703038cf4908"/>
  </p:sldMasterIdLst>
  <p:notesMasterIdLst>
    <p:notesMasterId xmlns:r="http://schemas.openxmlformats.org/officeDocument/2006/relationships" r:id="Rebda1bfdb88c46c6"/>
  </p:notesMasterIdLst>
  <p:sldIdLst>
    <p:sldId xmlns:r="http://schemas.openxmlformats.org/officeDocument/2006/relationships" id="256" r:id="R176b49073e654acf"/>
    <p:sldId xmlns:r="http://schemas.openxmlformats.org/officeDocument/2006/relationships" id="257" r:id="R7f087266b88f4f8e"/>
    <p:sldId xmlns:r="http://schemas.openxmlformats.org/officeDocument/2006/relationships" id="258" r:id="Rbdece609e781484a"/>
    <p:sldId xmlns:r="http://schemas.openxmlformats.org/officeDocument/2006/relationships" id="259" r:id="R0140b7c13a8c4920"/>
    <p:sldId xmlns:r="http://schemas.openxmlformats.org/officeDocument/2006/relationships" id="260" r:id="R5c661472e7344867"/>
    <p:sldId xmlns:r="http://schemas.openxmlformats.org/officeDocument/2006/relationships" id="261" r:id="R7b2fdf1a92f54225"/>
    <p:sldId xmlns:r="http://schemas.openxmlformats.org/officeDocument/2006/relationships" id="262" r:id="R91dfd61a61cf4544"/>
    <p:sldId xmlns:r="http://schemas.openxmlformats.org/officeDocument/2006/relationships" id="263" r:id="R56ad42b1dc8d46f1"/>
    <p:sldId xmlns:r="http://schemas.openxmlformats.org/officeDocument/2006/relationships" id="264" r:id="R9e66e08ace3c4693"/>
    <p:sldId xmlns:r="http://schemas.openxmlformats.org/officeDocument/2006/relationships" id="265" r:id="Rb094b87414f6424c"/>
    <p:sldId xmlns:r="http://schemas.openxmlformats.org/officeDocument/2006/relationships" id="266" r:id="R71c5941744ab4d36"/>
    <p:sldId xmlns:r="http://schemas.openxmlformats.org/officeDocument/2006/relationships" id="267" r:id="R9d75b99f5ab945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6b5f7610b9437b" /><Relationship Type="http://schemas.openxmlformats.org/officeDocument/2006/relationships/slideMaster" Target="/ppt/slideMasters/slideMaster1.xml" Id="Rc28a703038cf4908" /><Relationship Type="http://schemas.openxmlformats.org/officeDocument/2006/relationships/notesMaster" Target="/ppt/notesMasters/notesMaster1.xml" Id="Rebda1bfdb88c46c6" /><Relationship Type="http://schemas.openxmlformats.org/officeDocument/2006/relationships/presProps" Target="/ppt/presProps.xml" Id="R1bf4a52d500c4a3c" /><Relationship Type="http://schemas.openxmlformats.org/officeDocument/2006/relationships/tableStyles" Target="/ppt/tableStyles.xml" Id="Rd24e81cb90794b25" /><Relationship Type="http://schemas.openxmlformats.org/officeDocument/2006/relationships/slide" Target="/ppt/slides/slide1.xml" Id="R176b49073e654acf" /><Relationship Type="http://schemas.openxmlformats.org/officeDocument/2006/relationships/slide" Target="/ppt/slides/slide2.xml" Id="R7f087266b88f4f8e" /><Relationship Type="http://schemas.openxmlformats.org/officeDocument/2006/relationships/slide" Target="/ppt/slides/slide3.xml" Id="Rbdece609e781484a" /><Relationship Type="http://schemas.openxmlformats.org/officeDocument/2006/relationships/slide" Target="/ppt/slides/slide4.xml" Id="R0140b7c13a8c4920" /><Relationship Type="http://schemas.openxmlformats.org/officeDocument/2006/relationships/slide" Target="/ppt/slides/slide5.xml" Id="R5c661472e7344867" /><Relationship Type="http://schemas.openxmlformats.org/officeDocument/2006/relationships/slide" Target="/ppt/slides/slide6.xml" Id="R7b2fdf1a92f54225" /><Relationship Type="http://schemas.openxmlformats.org/officeDocument/2006/relationships/slide" Target="/ppt/slides/slide7.xml" Id="R91dfd61a61cf4544" /><Relationship Type="http://schemas.openxmlformats.org/officeDocument/2006/relationships/slide" Target="/ppt/slides/slide8.xml" Id="R56ad42b1dc8d46f1" /><Relationship Type="http://schemas.openxmlformats.org/officeDocument/2006/relationships/slide" Target="/ppt/slides/slide9.xml" Id="R9e66e08ace3c4693" /><Relationship Type="http://schemas.openxmlformats.org/officeDocument/2006/relationships/slide" Target="/ppt/slides/slide10.xml" Id="Rb094b87414f6424c" /><Relationship Type="http://schemas.openxmlformats.org/officeDocument/2006/relationships/slide" Target="/ppt/slides/slide11.xml" Id="R71c5941744ab4d36" /><Relationship Type="http://schemas.openxmlformats.org/officeDocument/2006/relationships/slide" Target="/ppt/slides/slide12.xml" Id="R9d75b99f5ab945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aebab269eb49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71ad9bdafc4a4a" /><Relationship Type="http://schemas.openxmlformats.org/officeDocument/2006/relationships/notesMaster" Target="/ppt/notesMasters/notesMaster1.xml" Id="R128d836e3f5249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34631f875342ec" /><Relationship Type="http://schemas.openxmlformats.org/officeDocument/2006/relationships/notesMaster" Target="/ppt/notesMasters/notesMaster1.xml" Id="R0d6f1058b7c74e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99041989e9435d" /><Relationship Type="http://schemas.openxmlformats.org/officeDocument/2006/relationships/notesMaster" Target="/ppt/notesMasters/notesMaster1.xml" Id="R61587ee7f8c246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a68892e08d41f0" /><Relationship Type="http://schemas.openxmlformats.org/officeDocument/2006/relationships/notesMaster" Target="/ppt/notesMasters/notesMaster1.xml" Id="Rfc0689fc217642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451a473be043d5" /><Relationship Type="http://schemas.openxmlformats.org/officeDocument/2006/relationships/notesMaster" Target="/ppt/notesMasters/notesMaster1.xml" Id="Rbc2a4055cf1545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3c2a33580249a4" /><Relationship Type="http://schemas.openxmlformats.org/officeDocument/2006/relationships/notesMaster" Target="/ppt/notesMasters/notesMaster1.xml" Id="Rd4978dcd0fb843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2937bdeeb14d93" /><Relationship Type="http://schemas.openxmlformats.org/officeDocument/2006/relationships/notesMaster" Target="/ppt/notesMasters/notesMaster1.xml" Id="Ree958c33b52745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f4564f27254ac4" /><Relationship Type="http://schemas.openxmlformats.org/officeDocument/2006/relationships/notesMaster" Target="/ppt/notesMasters/notesMaster1.xml" Id="Raf4adbd1be0a44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1853cabeb34ad3" /><Relationship Type="http://schemas.openxmlformats.org/officeDocument/2006/relationships/notesMaster" Target="/ppt/notesMasters/notesMaster1.xml" Id="Raa48d57c50424b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dc024e5b0c46a2" /><Relationship Type="http://schemas.openxmlformats.org/officeDocument/2006/relationships/notesMaster" Target="/ppt/notesMasters/notesMaster1.xml" Id="Re6b3affb548442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ef777f5fe84fed" /><Relationship Type="http://schemas.openxmlformats.org/officeDocument/2006/relationships/notesMaster" Target="/ppt/notesMasters/notesMaster1.xml" Id="R36491e0f569741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cb6ad450be4896" /><Relationship Type="http://schemas.openxmlformats.org/officeDocument/2006/relationships/notesMaster" Target="/ppt/notesMasters/notesMaster1.xml" Id="R84af8f4fe8ea4f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กรณีศึกษาบั๊กเดียวตามขอบเขตที่ทีมเลือก ไม่ใช่ผลทุก project/dataset. สมาชิก: นายธนินธร อันทรบุตร 673380043-6; นายศุภกร กรมรินทร์ 673380061-4; นายณัชพล เพ็งพล 673380267-4; นายณัฐกรณ์ อินธิสาร 673380268-2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หนึ่ง generated suite ต่อวิธี. Fixed สองรอบเป็นการตรวจ suite เดิม ไม่ใช่ independent generation repeats.</a:t>
            </a:r>
          </a:p>
          <a:p xmlns:a="http://schemas.openxmlformats.org/drawingml/2006/main">
            <a:r>
              <a:t>Source: Experiment/results.json; Experiment/summary.csv; frozen Csv-1 generation and canonical Beam Defects4J records included in this bundle.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Algorithms ใช้ bounded input vectors; fixed observation สองครั้งสร้าง expected oracle. AI prompt ใช้ fixed source และ embedded contract. Benchmark hashes ต่าง native upstream และถูก bind ตามหลักฐานก่อนรัน.</a:t>
            </a:r>
          </a:p>
          <a:p xmlns:a="http://schemas.openxmlformats.org/drawingml/2006/main">
            <a:r>
              <a:t>Source: Experiment/results.json; Experiment/summary.csv; frozen Csv-1 generation and canonical Beam Defects4J records included in this bundle.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พื้นฐาน: Hansen (2016), https://arxiv.org/abs/1604.00772. Code: Algorithm1_CMAES/Code/cmaes.py and Shared/frozen-runtime/scripts/study/generate.py. ไม่กล่าวว่า fitness เป็น coverage.</a:t>
            </a:r>
          </a:p>
          <a:p xmlns:a="http://schemas.openxmlformats.org/drawingml/2006/main">
            <a:r>
              <a:t>Source: Experiment/results.json; Experiment/summary.csv; frozen Csv-1 generation and canonical Beam Defects4J records included in this bundle.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พื้นฐาน: Chen, Leung &amp; Mak (2004), https://www.cs.nmsu.edu/~hleung/adaptiveRandomTesting.pdf. Code: Algorithm2_FSCSART/Code/fscs_art.py. Distance ใช้ normalized Euclidean; candidate set10; seed101/budget30.</a:t>
            </a:r>
          </a:p>
          <a:p xmlns:a="http://schemas.openxmlformats.org/drawingml/2006/main">
            <a:r>
              <a:t>Source: Experiment/results.json; Experiment/summary.csv; frozen Csv-1 generation and canonical Beam Defects4J records included in this bundle.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same prompt SHA48558986...; requested Sonnet claude-sonnet-5, observed anthropic/claude-sonnet-5. Gemini gemini-3.5-flash-lite. Prompt/settings/raw responses included under both AI folders. Claude received response was reconciled after provider-name guard; no resend.</a:t>
            </a:r>
          </a:p>
          <a:p xmlns:a="http://schemas.openxmlformats.org/drawingml/2006/main">
            <a:r>
              <a:t>Source: Experiment/results.json; Experiment/summary.csv; frozen Csv-1 generation and canonical Beam Defects4J records included in this bundle.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Canonical records from Beam counted replay. All fixed1/fixed2 and coverage stages pass. Actual method counts30/30/21/18 with skipped0 from XML. 99 method entries across suites is not99 unique scenarios. Fault is one distinct bug, not two bugs because two AI suites detected it.</a:t>
            </a:r>
          </a:p>
          <a:p xmlns:a="http://schemas.openxmlformats.org/drawingml/2006/main">
            <a:r>
              <a:t>Source: Experiment/results.json; Experiment/summary.csv; frozen Csv-1 generation and canonical Beam Defects4J records included in this bundle.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Raw counts: CMA/FSCS31/37 lines13/26 branches; Sonnet36/37 lines22/26 branches; Gemini37/37 lines23/26 branches. Percentages computed directly from the same denominators. One class only; not project coverage.</a:t>
            </a:r>
          </a:p>
          <a:p xmlns:a="http://schemas.openxmlformats.org/drawingml/2006/main">
            <a:r>
              <a:t>Source: Experiment/results.json; Experiment/summary.csv; frozen Csv-1 generation and canonical Beam Defects4J records included in this bundle.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Sonnet actual source lineNumberDoesNotDoubleCountCRLF: A\r\nB, after readingA andCR expected1 observed0 on1b. Gemini testCarriageReturnLineNumber a\rb\nc, after readinga CR b LF expected2 observed1. Both pass fixed. Source/patch binding under Experiment/source-bindings.</a:t>
            </a:r>
          </a:p>
          <a:p xmlns:a="http://schemas.openxmlformats.org/drawingml/2006/main">
            <a:r>
              <a:t>Source: Experiment/results.json; Experiment/summary.csv; frozen Csv-1 generation and canonical Beam Defects4J records included in this bundle.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Generation algorithm time is native Windows original producer; AI is observed KKU HTTP wall time, not model compute. Evaluation time from canonical D4J record; excludes original generation and does not represent end-to-end effort. No speed superiority claim.</a:t>
            </a:r>
          </a:p>
          <a:p xmlns:a="http://schemas.openxmlformats.org/drawingml/2006/main">
            <a:r>
              <a:t>Source: Experiment/results.json; Experiment/summary.csv; frozen Csv-1 generation and canonical Beam Defects4J records included in this bundle.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Fixed-assisted regression study; no blind-buggy-only claim. Unequal bounded algorithm domain vs AI broader sequences. One bug/oneclass/onegeneratedsuite. Prior17projects and v13 history are retained elsewhere and not pooled into this one-bug result.</a:t>
            </a:r>
          </a:p>
          <a:p xmlns:a="http://schemas.openxmlformats.org/drawingml/2006/main">
            <a:r>
              <a:t>Source: Experiment/results.json; Experiment/summary.csv; frozen Csv-1 generation and canonical Beam Defects4J records included in this bundle.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Presentation/demo-guide.md and replay-demo.py. Replay all unchanged archives in fresh worktrees with Java11/D4J3.0.1/source guards/CPU1 lock. Saved rehearsal is not another generation repeat. Members and IDs are in README and report.</a:t>
            </a:r>
          </a:p>
          <a:p xmlns:a="http://schemas.openxmlformats.org/drawingml/2006/main">
            <a:r>
              <a:t>Source: Experiment/results.json; Experiment/summary.csv; frozen Csv-1 generation and canonical Beam Defects4J records included in this bundle.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f496b9a3a540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682d6137de4a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62c5fba5d546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29ca33d6148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fecca78f94d7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6e85ee5124d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0C708B-059E-4929-A465-B5E47BC878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863273-1C51-4CD1-A26B-A532DF5DE9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B63DF2E-5F46-4CB1-ABC8-279436F4B2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84DFBE-FCA1-4B03-9228-26C3F91D33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53F72A-284F-48E6-BAD7-467EAF3677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676A5D-BE7B-4092-8411-2C4E3F9CB3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8CC0B3-FA7E-46E2-8A36-CC306EA27F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4D460A9-B968-4CF6-9D73-39B4DD58EA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03711D-B8A5-468C-84FB-F239CA67B8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E0E23C-1297-43B8-910A-75E410AFDF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d68955c8a745a8" /><Relationship Type="http://schemas.openxmlformats.org/officeDocument/2006/relationships/slideLayout" Target="/ppt/slideLayouts/slideLayout1.xml" Id="Rb966e9c5fec3414d" /><Relationship Type="http://schemas.openxmlformats.org/officeDocument/2006/relationships/slideLayout" Target="/ppt/slideLayouts/slideLayout2.xml" Id="R5f7f1beeed954def" /><Relationship Type="http://schemas.openxmlformats.org/officeDocument/2006/relationships/slideLayout" Target="/ppt/slideLayouts/slideLayout3.xml" Id="R3868d63c3d2c4aea" /><Relationship Type="http://schemas.openxmlformats.org/officeDocument/2006/relationships/slideLayout" Target="/ppt/slideLayouts/slideLayout4.xml" Id="R58bf9455a62a40f3" /><Relationship Type="http://schemas.openxmlformats.org/officeDocument/2006/relationships/slideLayout" Target="/ppt/slideLayouts/slideLayout5.xml" Id="R42a2df53c7f542c0" /><Relationship Type="http://schemas.openxmlformats.org/officeDocument/2006/relationships/slideLayout" Target="/ppt/slideLayouts/slideLayout6.xml" Id="R16bec3d460b048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66e9c5fec3414d"/>
    <p:sldLayoutId xmlns:r="http://schemas.openxmlformats.org/officeDocument/2006/relationships" id="2147483650" r:id="R5f7f1beeed954def"/>
    <p:sldLayoutId xmlns:r="http://schemas.openxmlformats.org/officeDocument/2006/relationships" id="2147483651" r:id="R3868d63c3d2c4aea"/>
    <p:sldLayoutId xmlns:r="http://schemas.openxmlformats.org/officeDocument/2006/relationships" id="2147483652" r:id="R58bf9455a62a40f3"/>
    <p:sldLayoutId xmlns:r="http://schemas.openxmlformats.org/officeDocument/2006/relationships" id="2147483653" r:id="R42a2df53c7f542c0"/>
    <p:sldLayoutId xmlns:r="http://schemas.openxmlformats.org/officeDocument/2006/relationships" id="2147483654" r:id="R16bec3d460b048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abd74aa2454f64" /><Relationship Type="http://schemas.openxmlformats.org/officeDocument/2006/relationships/notesSlide" Target="/ppt/notesSlides/notesSlide1.xml" Id="R4dd9d9a3aa1542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f265c2b92946f6" /><Relationship Type="http://schemas.openxmlformats.org/officeDocument/2006/relationships/notesSlide" Target="/ppt/notesSlides/notesSlide2.xml" Id="Rbe235922747345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a5ebe32b6b481f" /><Relationship Type="http://schemas.openxmlformats.org/officeDocument/2006/relationships/notesSlide" Target="/ppt/notesSlides/notesSlide3.xml" Id="Rb57be2f6d1e14c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50e36fe7714ceb" /><Relationship Type="http://schemas.openxmlformats.org/officeDocument/2006/relationships/notesSlide" Target="/ppt/notesSlides/notesSlide4.xml" Id="R32ce6675fec04f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efabbc83a4df1" /><Relationship Type="http://schemas.openxmlformats.org/officeDocument/2006/relationships/notesSlide" Target="/ppt/notesSlides/notesSlide5.xml" Id="Rb3fbcb43aec24f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f7f4c7f7544ead" /><Relationship Type="http://schemas.openxmlformats.org/officeDocument/2006/relationships/notesSlide" Target="/ppt/notesSlides/notesSlide6.xml" Id="R52491910efc144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0e7a2d801f4edc" /><Relationship Type="http://schemas.openxmlformats.org/officeDocument/2006/relationships/notesSlide" Target="/ppt/notesSlides/notesSlide7.xml" Id="Re33d900751154d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11f535ee2e484b" /><Relationship Type="http://schemas.openxmlformats.org/officeDocument/2006/relationships/chart" Target="/ppt/slides/charts/chart1.xml" Id="R3ca36ebda26c4f4e" /><Relationship Type="http://schemas.openxmlformats.org/officeDocument/2006/relationships/notesSlide" Target="/ppt/notesSlides/notesSlide8.xml" Id="R380d7dc709c74d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a50da739c44d04" /><Relationship Type="http://schemas.openxmlformats.org/officeDocument/2006/relationships/notesSlide" Target="/ppt/notesSlides/notesSlide9.xml" Id="Re6aa42cec7be4f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479da208204000" /><Relationship Type="http://schemas.openxmlformats.org/officeDocument/2006/relationships/notesSlide" Target="/ppt/notesSlides/notesSlide10.xml" Id="Red8e0b9b23ff45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6b9316e54d490d" /><Relationship Type="http://schemas.openxmlformats.org/officeDocument/2006/relationships/notesSlide" Target="/ppt/notesSlides/notesSlide11.xml" Id="Rb9e72c4fd28540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021c200c244998" /><Relationship Type="http://schemas.openxmlformats.org/officeDocument/2006/relationships/notesSlide" Target="/ppt/notesSlides/notesSlide12.xml" Id="R135ab0420c574f7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Line coverage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Data'!$A$2:$A$5</c:f>
              <c:strCache>
                <c:ptCount val="4"/>
                <c:pt idx="0">
                  <c:v>CMA-ES</c:v>
                </c:pt>
                <c:pt idx="1">
                  <c:v>FSCS-ART</c:v>
                </c:pt>
                <c:pt idx="2">
                  <c:v>Sonnet 5</c:v>
                </c:pt>
                <c:pt idx="3">
                  <c:v>Gemini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0.8378</c:v>
                </c:pt>
                <c:pt idx="1">
                  <c:v>0.8378</c:v>
                </c:pt>
                <c:pt idx="2">
                  <c:v>0.973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v>Branch coverage</c:v>
          </c:tx>
          <c:spPr>
            <a:solidFill xmlns:a="http://schemas.openxmlformats.org/drawingml/2006/main">
              <a:srgbClr val="E49B33"/>
            </a:solidFill>
          </c:spPr>
          <c:cat>
            <c:strRef>
              <c:f>'Chart Data'!$C$2:$C$5</c:f>
              <c:strCache>
                <c:ptCount val="4"/>
                <c:pt idx="0">
                  <c:v>CMA-ES</c:v>
                </c:pt>
                <c:pt idx="1">
                  <c:v>FSCS-ART</c:v>
                </c:pt>
                <c:pt idx="2">
                  <c:v>Sonnet 5</c:v>
                </c:pt>
                <c:pt idx="3">
                  <c:v>Gemini</c:v>
                </c:pt>
              </c:strCache>
            </c:strRef>
          </c:cat>
          <c:val>
            <c:numRef>
              <c:f>'Chart Data'!$D$2:$D$5</c:f>
              <c:numCache>
                <c:formatCode>0.0%</c:formatCode>
                <c:ptCount val="4"/>
                <c:pt idx="0">
                  <c:v>0.5</c:v>
                </c:pt>
                <c:pt idx="1">
                  <c:v>0.5</c:v>
                </c:pt>
                <c:pt idx="2">
                  <c:v>0.8462</c:v>
                </c:pt>
                <c:pt idx="3">
                  <c:v>0.8846</c:v>
                </c:pt>
              </c:numCache>
            </c:numRef>
          </c:val>
        </c:ser>
        <c:dLbls>
          <c:numFmt formatCode="0.0%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Tahoma"/>
              <a:ea typeface="Tahoma"/>
              <a:cs typeface="Tahoma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37D70-9185-4D09-99E8-4870A9B9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26371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1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26371"/>
                </a:solidFill>
                <a:latin typeface="Tahoma"/>
                <a:ea typeface="Tahoma"/>
                <a:cs typeface="Tahoma"/>
              </a:rPr>
              <a:t>CP353201 SOFTWARE QUALITY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6AB80-8A47-4C23-9B7C-723AB048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35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การสร้าง Unit Tests</a:t>
            </a:r>
          </a:p>
          <a:p xmlns:a="http://schemas.openxmlformats.org/drawingml/2006/main">
            <a:pPr>
              <a:defRPr sz="435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ด้วยอัลกอริทึมและ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F7247-CD4A-4BCB-A277-7BC5CEA8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77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Defects4J Csv-1: บั๊กเดียว / 4 วิธี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9AE4A-02D3-4912-BA44-3BF0480B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CMA-ES  ·  FSCS-ART  ·  KKU Sonnet 5  ·  Gemini 3.5 Flash Lite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6EFEC-1057-4888-8A7A-20153207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26371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1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26371"/>
                </a:solidFill>
                <a:latin typeface="Tahoma"/>
                <a:ea typeface="Tahoma"/>
                <a:cs typeface="Tahoma"/>
              </a:rPr>
              <a:t>รอบ 2  |  4 ตุลาคม 2026</a:t>
            </a:r>
          </a:p>
        </p:txBody>
      </p:sp>
    </p:spTree>
    <p:extLst>
      <p:ext uri="{BB962C8B-B14F-4D97-AF65-F5344CB8AC3E}">
        <p14:creationId xmlns:p14="http://schemas.microsoft.com/office/powerpoint/2010/main" val="7654691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0B54A-E3ED-4A12-86EB-75E3BD45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ขอบเขตและสภาพแวดล้อม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A33A1-904C-4C14-ADAE-CA6883A1BFA7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รายการ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ขอบเขตที่ทดลอง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บั๊ก / class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Csv-1 / ExtendedBufferedReader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2 algorithms + 2 AI ผ่าน KKU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Benchmark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Defects4J 3.0.1 / Java 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การวัดผล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Fixed 2 รอบ → buggy → class coverage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375D3-C315-4254-958E-2531E30E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หนึ่งบั๊ก  ·  หนึ่ง target class  ·  หนึ่ง suite ต่อวิธี</a:t>
            </a:r>
          </a:p>
        </p:txBody>
      </p:sp>
    </p:spTree>
    <p:extLst>
      <p:ext uri="{BB962C8B-B14F-4D97-AF65-F5344CB8AC3E}">
        <p14:creationId xmlns:p14="http://schemas.microsoft.com/office/powerpoint/2010/main" val="8819694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E8FBF-D73D-49F2-AED7-C9F58F21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กระบวนการสร้างและประเมิน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43873-9F92-46A3-8BF6-C2352CBA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1  สร้าง suite จาก vectors หรือ prompt/context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2  ใช้ suite เดิมรัน fixed revision สองครั้ง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3  รัน buggy revision และตรวจ assertion ที่ล้มเหลว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4  วัด line / branch coverage แล้วเปรียบเทียบผล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40A9D-6359-4142-A2E5-4F644572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Oracle และ AI context ของชุดนี้อิง fixed source</a:t>
            </a:r>
          </a:p>
        </p:txBody>
      </p:sp>
    </p:spTree>
    <p:extLst>
      <p:ext uri="{BB962C8B-B14F-4D97-AF65-F5344CB8AC3E}">
        <p14:creationId xmlns:p14="http://schemas.microsoft.com/office/powerpoint/2010/main" val="3631467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A6589-FA58-4FF4-A197-EEE4A142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CMA-ES: เลือก inputs ด้วย fixed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0C961-EC77-4A8E-8855-8B71B952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สุ่ม vector จาก multivariate normal distribution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ปรับ mean, covariance และ step size ตามคะแนน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Objective: ลดความถี่ของ fixed behavior ที่เคยพบ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Seed 101 / budget 30 vectors / bounds [-1, 1]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5CB1F-02C1-4323-83DA-D661708E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Coverage วัดภายหลัง ไม่ได้ใช้เป็น fitness</a:t>
            </a:r>
          </a:p>
        </p:txBody>
      </p:sp>
    </p:spTree>
    <p:extLst>
      <p:ext uri="{BB962C8B-B14F-4D97-AF65-F5344CB8AC3E}">
        <p14:creationId xmlns:p14="http://schemas.microsoft.com/office/powerpoint/2010/main" val="399585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360A6-B9B8-4686-B681-398BBF61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FSCS-ART: กระจาย inputs ในขอบเขตที่กำหนด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E37A6-C3CA-428C-9B4C-5D81104F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เริ่มจาก input สุ่มหนึ่งจุด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สุ่ม candidate set 10 จุดสำหรับ input ถัดไป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เลือกจุดที่ห่างจากจุดเดิมใกล้ที่สุดมากที่สุด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ใช้ helper และ target list เดียวกับ CMA-ES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9B797-58B5-4058-AFF6-1DA394E5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max candidate { min distance to selected inputs }</a:t>
            </a:r>
          </a:p>
        </p:txBody>
      </p:sp>
    </p:spTree>
    <p:extLst>
      <p:ext uri="{BB962C8B-B14F-4D97-AF65-F5344CB8AC3E}">
        <p14:creationId xmlns:p14="http://schemas.microsoft.com/office/powerpoint/2010/main" val="14472820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1D5E0-45BA-4C73-B919-D367FAFE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AI สองตัวผ่าน KKU IntelSphere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BD96C-5816-4EF3-97FF-46B9B15B9233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3810000"/>
                <a:gridCol w="440055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ค่า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Sonnet 5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Gemini 3.5 Flash Lite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Temperature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Max output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4096 tokens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4096 tokens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Input tokens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63,672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41,314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Output tokens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3,636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1,655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61B95-645F-474A-8D5E-F1F5DBD0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Prompt/context เดียวกัน  ·  เก็บ raw output และ settings</a:t>
            </a:r>
          </a:p>
        </p:txBody>
      </p:sp>
    </p:spTree>
    <p:extLst>
      <p:ext uri="{BB962C8B-B14F-4D97-AF65-F5344CB8AC3E}">
        <p14:creationId xmlns:p14="http://schemas.microsoft.com/office/powerpoint/2010/main" val="7215047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AACC9-D28C-4350-8B54-E5B5304A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ผล fixed และ buggy ของ Csv-1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1112C-0CC5-4F2F-8A69-9F4D148E327C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1333500"/>
                <a:gridCol w="2238375"/>
                <a:gridCol w="2095500"/>
                <a:gridCol w="2114550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Tests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Fixed fail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Buggy fail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พบ fault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ไม่พบ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ไม่พบ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Sonnet 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พบ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Gemini 3.5 Flash Lite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พบ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D7993-8D1F-4DD2-B578-628CA125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AI ทั้งสองพบ CR fault  ·  algorithms ไม่พบในชุดนี้</a:t>
            </a:r>
          </a:p>
        </p:txBody>
      </p:sp>
    </p:spTree>
    <p:extLst>
      <p:ext uri="{BB962C8B-B14F-4D97-AF65-F5344CB8AC3E}">
        <p14:creationId xmlns:p14="http://schemas.microsoft.com/office/powerpoint/2010/main" val="11875882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2BD81-5EE8-4851-807D-833844E6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Coverage ของ target class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456BDE91-249F-409E-97AD-A17CC9B1E3EA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a36ebda26c4f4e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F630D-40EC-4B42-B6C9-6EA49428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26371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371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526371"/>
                </a:solidFill>
                <a:latin typeface="Tahoma"/>
                <a:ea typeface="Tahoma"/>
                <a:cs typeface="Tahoma"/>
              </a:rPr>
              <a:t>Class coverage: ExtendedBufferedReader เท่านั้น</a:t>
            </a:r>
          </a:p>
        </p:txBody>
      </p:sp>
    </p:spTree>
    <p:extLst>
      <p:ext uri="{BB962C8B-B14F-4D97-AF65-F5344CB8AC3E}">
        <p14:creationId xmlns:p14="http://schemas.microsoft.com/office/powerpoint/2010/main" val="429667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0EA3B-D718-4CB9-BA27-6074EFD7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ตัวอย่าง fault: carriage return และ CRLF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CF08F-16FD-46CC-AE16-99BC6B44EBCC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2857500"/>
                <a:gridCol w="3352800"/>
              </a:tblGrid>
              <a:tr h="857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AI / input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Fixed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Buggy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Sonnet: "A\r\nB"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line number =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คาด 1 แต่ได้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Gemini: "a\rb\nc"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line number =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คาด 2 แต่ได้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57FE0-88DA-4546-8D1C-4C1A9B06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assertEquals(expected, reader.getLineNumber())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6F821-EBFA-481E-AC81-650BE13B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Bounded algorithm streams ไม่มี CR จึงไม่ครอบคลุมเงื่อนไขนี้</a:t>
            </a:r>
          </a:p>
        </p:txBody>
      </p:sp>
    </p:spTree>
    <p:extLst>
      <p:ext uri="{BB962C8B-B14F-4D97-AF65-F5344CB8AC3E}">
        <p14:creationId xmlns:p14="http://schemas.microsoft.com/office/powerpoint/2010/main" val="9189516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AEC12-CB8F-4A08-AF07-9FA12775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เวลาที่บันทึก: แยก generation กับ evaluation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925F5-FC96-4C74-8DD3-4F9B1D90C2E4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924300"/>
                <a:gridCol w="3619500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Generation / HTTP (s)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D4J evaluation (s)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6.77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23.25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7.37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22.69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Sonnet 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26.25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15.24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Gemini 3.5 Flash Lite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6.45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14.88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852C7-D7A8-412C-B45F-1071B4AD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คนละขั้นตอนและ host  ·  ไม่ใช้จัดอันดับความเร็วทั่วไป</a:t>
            </a:r>
          </a:p>
        </p:txBody>
      </p:sp>
    </p:spTree>
    <p:extLst>
      <p:ext uri="{BB962C8B-B14F-4D97-AF65-F5344CB8AC3E}">
        <p14:creationId xmlns:p14="http://schemas.microsoft.com/office/powerpoint/2010/main" val="21230304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2725B-1623-48F1-9D3D-DF4FC65D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ข้อจำกัดและสิ่งที่ได้เรียนรู้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3A54E-3282-4902-94C6-138BB2A4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หนึ่งบั๊กและหนึ่ง class ยังสรุปทั้ง dataset ไม่ได้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Fixed context / oracle และ input domains ต่างกัน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จำนวน tests ไม่ใช่งบคำนวณหรือ scenarios ที่เท่ากัน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Tests ผ่านและ coverage สูง ไม่รับรองว่าจะพบ fault</a:t>
            </a:r>
          </a:p>
        </p:txBody>
      </p:sp>
    </p:spTree>
    <p:extLst>
      <p:ext uri="{BB962C8B-B14F-4D97-AF65-F5344CB8AC3E}">
        <p14:creationId xmlns:p14="http://schemas.microsoft.com/office/powerpoint/2010/main" val="12716961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D62F5-B7F3-4C37-BAF4-636A63E9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Demo และการทำซ้ำ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4FF2F-776F-4BC9-820A-763C98D9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เปิด code / prompt / raw output และ suite ที่สร้างจริง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รัน fixed → buggy → coverage ด้วย archives เดิม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แสดง assertion failure และตารางเปรียบเทียบ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ใช้ README + demo-guide เริ่มทำซ้ำได้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7F0E3-C92A-4638-BE61-BD3FD13C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ชุดส่ง: Report / Presentation / Experiment / 4 methods</a:t>
            </a:r>
          </a:p>
        </p:txBody>
      </p:sp>
    </p:spTree>
    <p:extLst>
      <p:ext uri="{BB962C8B-B14F-4D97-AF65-F5344CB8AC3E}">
        <p14:creationId xmlns:p14="http://schemas.microsoft.com/office/powerpoint/2010/main" val="440540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2026-10-04T01:05:39.8460000Z</dcterms:created>
  <dcterms:modified xsi:type="dcterms:W3CDTF">2026-10-04T01:05:39.8460000Z</dcterms:modified>
</coreProperties>
</file>